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6" r:id="rId2"/>
    <p:sldId id="258" r:id="rId3"/>
    <p:sldId id="273" r:id="rId4"/>
    <p:sldId id="260" r:id="rId5"/>
    <p:sldId id="277" r:id="rId6"/>
    <p:sldId id="283" r:id="rId7"/>
    <p:sldId id="276" r:id="rId8"/>
    <p:sldId id="264" r:id="rId9"/>
    <p:sldId id="265" r:id="rId10"/>
    <p:sldId id="268" r:id="rId11"/>
    <p:sldId id="278" r:id="rId12"/>
    <p:sldId id="279" r:id="rId13"/>
    <p:sldId id="280" r:id="rId14"/>
    <p:sldId id="281" r:id="rId15"/>
    <p:sldId id="282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F2E"/>
    <a:srgbClr val="2A9D8F"/>
    <a:srgbClr val="E76F51"/>
    <a:srgbClr val="F4A261"/>
    <a:srgbClr val="264653"/>
    <a:srgbClr val="570000"/>
    <a:srgbClr val="2A7076"/>
    <a:srgbClr val="E9C46A"/>
    <a:srgbClr val="DE7C5A"/>
    <a:srgbClr val="2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02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Piezas</a:t>
            </a:r>
            <a:r>
              <a:rPr lang="en-US" dirty="0"/>
              <a:t> </a:t>
            </a:r>
            <a:r>
              <a:rPr lang="en-US" dirty="0" err="1"/>
              <a:t>entregadas</a:t>
            </a:r>
            <a:endParaRPr lang="en-US" dirty="0"/>
          </a:p>
        </c:rich>
      </c:tx>
      <c:layout>
        <c:manualLayout>
          <c:xMode val="edge"/>
          <c:yMode val="edge"/>
          <c:x val="1.441500098520739E-2"/>
          <c:y val="3.0335175020822589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Piezas entregadas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B10F2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46-44ED-AD3E-33511C5B7FEE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rgbClr val="2A9D8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A-46AC-9C2E-874115223AE3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7BA-46AC-9C2E-874115223AE3}"/>
              </c:ext>
            </c:extLst>
          </c:dPt>
          <c:dLbls>
            <c:dLbl>
              <c:idx val="1"/>
              <c:layout>
                <c:manualLayout>
                  <c:x val="-6.949501366439817E-2"/>
                  <c:y val="-7.353270311011979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BA-46AC-9C2E-874115223AE3}"/>
                </c:ext>
              </c:extLst>
            </c:dLbl>
            <c:dLbl>
              <c:idx val="2"/>
              <c:layout>
                <c:manualLayout>
                  <c:x val="-3.9950054567606523E-2"/>
                  <c:y val="-7.1285631308918698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BA-46AC-9C2E-874115223A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Consolidado</c:v>
                </c:pt>
                <c:pt idx="1">
                  <c:v>No Consolidado</c:v>
                </c:pt>
                <c:pt idx="2">
                  <c:v>Desconocido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1004306044</c:v>
                </c:pt>
                <c:pt idx="1">
                  <c:v>103116393</c:v>
                </c:pt>
                <c:pt idx="2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A-46AC-9C2E-874115223AE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71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Piezas entregadas</a:t>
            </a:r>
          </a:p>
        </c:rich>
      </c:tx>
      <c:layout>
        <c:manualLayout>
          <c:xMode val="edge"/>
          <c:yMode val="edge"/>
          <c:x val="0.54086763884283584"/>
          <c:y val="6.3213138776233449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Piezas entregadas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C38-4E30-ACE1-BD4D889692C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C38-4E30-ACE1-BD4D889692CB}"/>
              </c:ext>
            </c:extLst>
          </c:dPt>
          <c:dLbls>
            <c:dLbl>
              <c:idx val="1"/>
              <c:layout>
                <c:manualLayout>
                  <c:x val="-0.14481894780757365"/>
                  <c:y val="1.1405701009426991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C38-4E30-ACE1-BD4D889692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Almacenes</c:v>
                </c:pt>
                <c:pt idx="1">
                  <c:v>Unidades Médicas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331185308</c:v>
                </c:pt>
                <c:pt idx="1">
                  <c:v>99194306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38-4E30-ACE1-BD4D889692C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263CC0-7664-430C-9707-9C0E2F095F81}" type="doc">
      <dgm:prSet loTypeId="urn:microsoft.com/office/officeart/2011/layout/HexagonRadial" loCatId="officeonlin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2CDD32-20C2-4F9B-8963-E387584797AE}">
      <dgm:prSet phldrT="[Text]" phldr="0" custT="1"/>
      <dgm:spPr/>
      <dgm:t>
        <a:bodyPr/>
        <a:lstStyle/>
        <a:p>
          <a:r>
            <a:rPr lang="es-MX" sz="2000" dirty="0"/>
            <a:t>Remisiones</a:t>
          </a:r>
        </a:p>
        <a:p>
          <a:r>
            <a:rPr lang="en-US" sz="1050" dirty="0"/>
            <a:t>(</a:t>
          </a:r>
          <a:r>
            <a:rPr lang="en-US" sz="1050" dirty="0" err="1"/>
            <a:t>Secretaría</a:t>
          </a:r>
          <a:r>
            <a:rPr lang="en-US" sz="1050" dirty="0"/>
            <a:t> de Salud)</a:t>
          </a:r>
          <a:endParaRPr lang="es-MX" sz="1050" dirty="0"/>
        </a:p>
      </dgm:t>
    </dgm:pt>
    <dgm:pt modelId="{EADE684F-3E86-4C41-A0B0-C518D3691891}" type="parTrans" cxnId="{67C2DA41-6C3B-4D62-A059-DB03485D2A4F}">
      <dgm:prSet/>
      <dgm:spPr/>
      <dgm:t>
        <a:bodyPr/>
        <a:lstStyle/>
        <a:p>
          <a:endParaRPr lang="en-US"/>
        </a:p>
      </dgm:t>
    </dgm:pt>
    <dgm:pt modelId="{FDF3BD78-7F1C-4AF4-988C-6C1CEC9CE07E}" type="sibTrans" cxnId="{67C2DA41-6C3B-4D62-A059-DB03485D2A4F}">
      <dgm:prSet/>
      <dgm:spPr/>
      <dgm:t>
        <a:bodyPr/>
        <a:lstStyle/>
        <a:p>
          <a:endParaRPr lang="en-US"/>
        </a:p>
      </dgm:t>
    </dgm:pt>
    <dgm:pt modelId="{A01981FC-7FD0-4FDE-93CB-9243C5FAB0C1}">
      <dgm:prSet phldrT="[Text]" phldr="0" custT="1"/>
      <dgm:spPr/>
      <dgm:t>
        <a:bodyPr/>
        <a:lstStyle/>
        <a:p>
          <a:r>
            <a:rPr lang="es-MX" sz="1200" dirty="0"/>
            <a:t>Censo de Población y Vivienda 2020</a:t>
          </a:r>
        </a:p>
        <a:p>
          <a:r>
            <a:rPr lang="en-US" sz="900" dirty="0"/>
            <a:t>(INEGI)</a:t>
          </a:r>
        </a:p>
      </dgm:t>
    </dgm:pt>
    <dgm:pt modelId="{2315831B-1BE9-4D90-89B1-765EE5473673}" type="parTrans" cxnId="{C50790C2-87A2-45F5-9D92-FF8FAE8F4626}">
      <dgm:prSet/>
      <dgm:spPr/>
      <dgm:t>
        <a:bodyPr/>
        <a:lstStyle/>
        <a:p>
          <a:endParaRPr lang="en-US"/>
        </a:p>
      </dgm:t>
    </dgm:pt>
    <dgm:pt modelId="{97A42C96-BBE5-43DC-9947-9D3821276EC0}" type="sibTrans" cxnId="{C50790C2-87A2-45F5-9D92-FF8FAE8F4626}">
      <dgm:prSet/>
      <dgm:spPr/>
      <dgm:t>
        <a:bodyPr/>
        <a:lstStyle/>
        <a:p>
          <a:endParaRPr lang="en-US"/>
        </a:p>
      </dgm:t>
    </dgm:pt>
    <dgm:pt modelId="{97338571-3ECA-4A72-9A1C-7C90789D3BE1}">
      <dgm:prSet phldrT="[Text]" phldr="0" custT="1"/>
      <dgm:spPr/>
      <dgm:t>
        <a:bodyPr/>
        <a:lstStyle/>
        <a:p>
          <a:r>
            <a:rPr lang="es-MX" sz="1200" dirty="0"/>
            <a:t>Adjudicaciones</a:t>
          </a:r>
        </a:p>
        <a:p>
          <a:r>
            <a:rPr lang="en-US" sz="800" dirty="0"/>
            <a:t>(</a:t>
          </a:r>
          <a:r>
            <a:rPr lang="en-US" sz="800" dirty="0" err="1"/>
            <a:t>Secretaría</a:t>
          </a:r>
          <a:r>
            <a:rPr lang="en-US" sz="800" dirty="0"/>
            <a:t> de Salud)</a:t>
          </a:r>
        </a:p>
      </dgm:t>
    </dgm:pt>
    <dgm:pt modelId="{559FCA45-0948-4421-AFC8-5609444D654A}" type="parTrans" cxnId="{DA60EAA3-B501-496D-9AB3-59A65795E999}">
      <dgm:prSet/>
      <dgm:spPr/>
      <dgm:t>
        <a:bodyPr/>
        <a:lstStyle/>
        <a:p>
          <a:endParaRPr lang="en-US"/>
        </a:p>
      </dgm:t>
    </dgm:pt>
    <dgm:pt modelId="{84FA7699-BF97-4E00-AC5F-FBA34DFB4212}" type="sibTrans" cxnId="{DA60EAA3-B501-496D-9AB3-59A65795E999}">
      <dgm:prSet/>
      <dgm:spPr/>
      <dgm:t>
        <a:bodyPr/>
        <a:lstStyle/>
        <a:p>
          <a:endParaRPr lang="en-US"/>
        </a:p>
      </dgm:t>
    </dgm:pt>
    <dgm:pt modelId="{DAD05793-1CB6-4501-BB5E-39543CEDC9F6}" type="pres">
      <dgm:prSet presAssocID="{E5263CC0-7664-430C-9707-9C0E2F095F8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7A6CC03-6486-4C88-94F1-E973821AADC8}" type="pres">
      <dgm:prSet presAssocID="{752CDD32-20C2-4F9B-8963-E387584797AE}" presName="Parent" presStyleLbl="node0" presStyleIdx="0" presStyleCnt="1">
        <dgm:presLayoutVars>
          <dgm:chMax val="6"/>
          <dgm:chPref val="6"/>
        </dgm:presLayoutVars>
      </dgm:prSet>
      <dgm:spPr/>
    </dgm:pt>
    <dgm:pt modelId="{CF3F5796-5A68-4DF7-908F-FDBD811A07A1}" type="pres">
      <dgm:prSet presAssocID="{A01981FC-7FD0-4FDE-93CB-9243C5FAB0C1}" presName="Accent1" presStyleCnt="0"/>
      <dgm:spPr/>
    </dgm:pt>
    <dgm:pt modelId="{D1CBAAD0-5146-4F95-A079-8090CD24B870}" type="pres">
      <dgm:prSet presAssocID="{A01981FC-7FD0-4FDE-93CB-9243C5FAB0C1}" presName="Accent" presStyleLbl="bgShp" presStyleIdx="0" presStyleCnt="2"/>
      <dgm:spPr/>
    </dgm:pt>
    <dgm:pt modelId="{C9C1B90A-8F67-4400-BE74-942F92797FE6}" type="pres">
      <dgm:prSet presAssocID="{A01981FC-7FD0-4FDE-93CB-9243C5FAB0C1}" presName="Child1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03387A0-34E8-49CF-8506-E580870BDF69}" type="pres">
      <dgm:prSet presAssocID="{97338571-3ECA-4A72-9A1C-7C90789D3BE1}" presName="Accent2" presStyleCnt="0"/>
      <dgm:spPr/>
    </dgm:pt>
    <dgm:pt modelId="{7F28D821-28BC-4A79-AA24-AB197CAD3761}" type="pres">
      <dgm:prSet presAssocID="{97338571-3ECA-4A72-9A1C-7C90789D3BE1}" presName="Accent" presStyleLbl="bgShp" presStyleIdx="1" presStyleCnt="2"/>
      <dgm:spPr/>
    </dgm:pt>
    <dgm:pt modelId="{222A6A71-8783-4396-B899-62C5F3CB711A}" type="pres">
      <dgm:prSet presAssocID="{97338571-3ECA-4A72-9A1C-7C90789D3BE1}" presName="Child2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65C3623-DE6D-40C3-B6F2-B7BEA51313C6}" type="presOf" srcId="{E5263CC0-7664-430C-9707-9C0E2F095F81}" destId="{DAD05793-1CB6-4501-BB5E-39543CEDC9F6}" srcOrd="0" destOrd="0" presId="urn:microsoft.com/office/officeart/2011/layout/HexagonRadial"/>
    <dgm:cxn modelId="{965A7036-98EF-4EEB-B690-2E5B130EC81A}" type="presOf" srcId="{752CDD32-20C2-4F9B-8963-E387584797AE}" destId="{97A6CC03-6486-4C88-94F1-E973821AADC8}" srcOrd="0" destOrd="0" presId="urn:microsoft.com/office/officeart/2011/layout/HexagonRadial"/>
    <dgm:cxn modelId="{67C2DA41-6C3B-4D62-A059-DB03485D2A4F}" srcId="{E5263CC0-7664-430C-9707-9C0E2F095F81}" destId="{752CDD32-20C2-4F9B-8963-E387584797AE}" srcOrd="0" destOrd="0" parTransId="{EADE684F-3E86-4C41-A0B0-C518D3691891}" sibTransId="{FDF3BD78-7F1C-4AF4-988C-6C1CEC9CE07E}"/>
    <dgm:cxn modelId="{B9C73246-8409-4653-80B7-71EFC9A67BD9}" type="presOf" srcId="{A01981FC-7FD0-4FDE-93CB-9243C5FAB0C1}" destId="{C9C1B90A-8F67-4400-BE74-942F92797FE6}" srcOrd="0" destOrd="0" presId="urn:microsoft.com/office/officeart/2011/layout/HexagonRadial"/>
    <dgm:cxn modelId="{DA60EAA3-B501-496D-9AB3-59A65795E999}" srcId="{752CDD32-20C2-4F9B-8963-E387584797AE}" destId="{97338571-3ECA-4A72-9A1C-7C90789D3BE1}" srcOrd="1" destOrd="0" parTransId="{559FCA45-0948-4421-AFC8-5609444D654A}" sibTransId="{84FA7699-BF97-4E00-AC5F-FBA34DFB4212}"/>
    <dgm:cxn modelId="{496C7FB0-CC40-4EEE-849C-ED920934D41F}" type="presOf" srcId="{97338571-3ECA-4A72-9A1C-7C90789D3BE1}" destId="{222A6A71-8783-4396-B899-62C5F3CB711A}" srcOrd="0" destOrd="0" presId="urn:microsoft.com/office/officeart/2011/layout/HexagonRadial"/>
    <dgm:cxn modelId="{C50790C2-87A2-45F5-9D92-FF8FAE8F4626}" srcId="{752CDD32-20C2-4F9B-8963-E387584797AE}" destId="{A01981FC-7FD0-4FDE-93CB-9243C5FAB0C1}" srcOrd="0" destOrd="0" parTransId="{2315831B-1BE9-4D90-89B1-765EE5473673}" sibTransId="{97A42C96-BBE5-43DC-9947-9D3821276EC0}"/>
    <dgm:cxn modelId="{1CA33501-1110-416C-AB08-F1A6269B58F5}" type="presParOf" srcId="{DAD05793-1CB6-4501-BB5E-39543CEDC9F6}" destId="{97A6CC03-6486-4C88-94F1-E973821AADC8}" srcOrd="0" destOrd="0" presId="urn:microsoft.com/office/officeart/2011/layout/HexagonRadial"/>
    <dgm:cxn modelId="{5EAA5F3C-C02E-44C5-8F4D-1AB548C59E1D}" type="presParOf" srcId="{DAD05793-1CB6-4501-BB5E-39543CEDC9F6}" destId="{CF3F5796-5A68-4DF7-908F-FDBD811A07A1}" srcOrd="1" destOrd="0" presId="urn:microsoft.com/office/officeart/2011/layout/HexagonRadial"/>
    <dgm:cxn modelId="{941A396E-742C-431A-A753-9EBC0C49EFD9}" type="presParOf" srcId="{CF3F5796-5A68-4DF7-908F-FDBD811A07A1}" destId="{D1CBAAD0-5146-4F95-A079-8090CD24B870}" srcOrd="0" destOrd="0" presId="urn:microsoft.com/office/officeart/2011/layout/HexagonRadial"/>
    <dgm:cxn modelId="{601509BE-5048-423F-8DFD-D07CAB4760AA}" type="presParOf" srcId="{DAD05793-1CB6-4501-BB5E-39543CEDC9F6}" destId="{C9C1B90A-8F67-4400-BE74-942F92797FE6}" srcOrd="2" destOrd="0" presId="urn:microsoft.com/office/officeart/2011/layout/HexagonRadial"/>
    <dgm:cxn modelId="{27EF5D79-9104-473C-8C3C-84EC52E94695}" type="presParOf" srcId="{DAD05793-1CB6-4501-BB5E-39543CEDC9F6}" destId="{B03387A0-34E8-49CF-8506-E580870BDF69}" srcOrd="3" destOrd="0" presId="urn:microsoft.com/office/officeart/2011/layout/HexagonRadial"/>
    <dgm:cxn modelId="{1EB15AC1-DF58-4EBF-A31A-631F7FFC18F9}" type="presParOf" srcId="{B03387A0-34E8-49CF-8506-E580870BDF69}" destId="{7F28D821-28BC-4A79-AA24-AB197CAD3761}" srcOrd="0" destOrd="0" presId="urn:microsoft.com/office/officeart/2011/layout/HexagonRadial"/>
    <dgm:cxn modelId="{9F16EAA9-4B01-4ADF-87A6-6B86EF64ED1F}" type="presParOf" srcId="{DAD05793-1CB6-4501-BB5E-39543CEDC9F6}" destId="{222A6A71-8783-4396-B899-62C5F3CB711A}" srcOrd="4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A6CC03-6486-4C88-94F1-E973821AADC8}">
      <dsp:nvSpPr>
        <dsp:cNvPr id="0" name=""/>
        <dsp:cNvSpPr/>
      </dsp:nvSpPr>
      <dsp:spPr>
        <a:xfrm>
          <a:off x="2947457" y="974264"/>
          <a:ext cx="2778418" cy="2403243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Remisiones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(</a:t>
          </a:r>
          <a:r>
            <a:rPr lang="en-US" sz="1050" kern="1200" dirty="0" err="1"/>
            <a:t>Secretaría</a:t>
          </a:r>
          <a:r>
            <a:rPr lang="en-US" sz="1050" kern="1200" dirty="0"/>
            <a:t> de Salud)</a:t>
          </a:r>
          <a:endParaRPr lang="es-MX" sz="1050" kern="1200" dirty="0"/>
        </a:p>
      </dsp:txBody>
      <dsp:txXfrm>
        <a:off x="3407861" y="1372499"/>
        <a:ext cx="1857610" cy="1606773"/>
      </dsp:txXfrm>
    </dsp:sp>
    <dsp:sp modelId="{7F28D821-28BC-4A79-AA24-AB197CAD3761}">
      <dsp:nvSpPr>
        <dsp:cNvPr id="0" name=""/>
        <dsp:cNvSpPr/>
      </dsp:nvSpPr>
      <dsp:spPr>
        <a:xfrm>
          <a:off x="5910702" y="1512960"/>
          <a:ext cx="1048433" cy="90333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C1B90A-8F67-4400-BE74-942F92797FE6}">
      <dsp:nvSpPr>
        <dsp:cNvPr id="0" name=""/>
        <dsp:cNvSpPr/>
      </dsp:nvSpPr>
      <dsp:spPr>
        <a:xfrm>
          <a:off x="5291531" y="0"/>
          <a:ext cx="2276611" cy="1969850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Censo de Población y Vivienda 2020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(INEGI)</a:t>
          </a:r>
        </a:p>
      </dsp:txBody>
      <dsp:txXfrm>
        <a:off x="5668844" y="326472"/>
        <a:ext cx="1521985" cy="1316906"/>
      </dsp:txXfrm>
    </dsp:sp>
    <dsp:sp modelId="{222A6A71-8783-4396-B899-62C5F3CB711A}">
      <dsp:nvSpPr>
        <dsp:cNvPr id="0" name=""/>
        <dsp:cNvSpPr/>
      </dsp:nvSpPr>
      <dsp:spPr>
        <a:xfrm>
          <a:off x="5291531" y="2381487"/>
          <a:ext cx="2276611" cy="1969850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-1477953"/>
            <a:satOff val="20598"/>
            <a:lumOff val="152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Adjudicaciones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</a:t>
          </a:r>
          <a:r>
            <a:rPr lang="en-US" sz="800" kern="1200" dirty="0" err="1"/>
            <a:t>Secretaría</a:t>
          </a:r>
          <a:r>
            <a:rPr lang="en-US" sz="800" kern="1200" dirty="0"/>
            <a:t> de Salud)</a:t>
          </a:r>
        </a:p>
      </dsp:txBody>
      <dsp:txXfrm>
        <a:off x="5668844" y="2707959"/>
        <a:ext cx="1521985" cy="1316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48C76-CA7B-487E-BC19-5596A12F79F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AD3B7-9F60-4C76-A433-AD4A911A1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AD3B7-9F60-4C76-A433-AD4A911A11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81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AD3B7-9F60-4C76-A433-AD4A911A11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67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AD3B7-9F60-4C76-A433-AD4A911A11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79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AD3B7-9F60-4C76-A433-AD4A911A11C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4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AD3B7-9F60-4C76-A433-AD4A911A11C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2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1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1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0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9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1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7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3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13/05/2026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2222Análisis de solicitudes y entrega de medicamentos en el sector salud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45082-A74D-4587-9352-3B7E331F1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7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mailto:edgar.munoz.sanchez9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tregamedicamentos.salud.gob.mx/insumos/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ecalux.com.mx/blog/consolidacion-carga?utm_source=chatgpt.com" TargetMode="External"/><Relationship Id="rId5" Type="http://schemas.openxmlformats.org/officeDocument/2006/relationships/hyperlink" Target="https://www.inegi.org.mx/programas/ccpv/2020/?utm_source=chatgpt.com#datos_abiertos" TargetMode="External"/><Relationship Id="rId4" Type="http://schemas.openxmlformats.org/officeDocument/2006/relationships/hyperlink" Target="https://monitoreocompra.salud.gob.mx/compra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52AD-A6BD-A4BF-A869-11B3F1D42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34575" cy="1655762"/>
          </a:xfrm>
        </p:spPr>
        <p:txBody>
          <a:bodyPr>
            <a:noAutofit/>
          </a:bodyPr>
          <a:lstStyle/>
          <a:p>
            <a:r>
              <a:rPr lang="es-MX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Análisis de solicitudes y entrega de medicamentos en el sector salud</a:t>
            </a:r>
            <a:endParaRPr lang="en-US" sz="4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CC11D-1625-F2AF-DAC1-2D0A20CF8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8425" y="4228625"/>
            <a:ext cx="9144000" cy="1363343"/>
          </a:xfrm>
        </p:spPr>
        <p:txBody>
          <a:bodyPr>
            <a:noAutofit/>
          </a:bodyPr>
          <a:lstStyle/>
          <a:p>
            <a:pPr algn="l"/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Mayo 2026 </a:t>
            </a:r>
          </a:p>
          <a:p>
            <a:pPr algn="l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Edgar Muñoz Sánchez</a:t>
            </a:r>
          </a:p>
          <a:p>
            <a:pPr algn="l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edgar.munoz.sanchez99@gmail.com</a:t>
            </a:r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l"/>
            <a:endParaRPr lang="es-MX" sz="2000" dirty="0"/>
          </a:p>
          <a:p>
            <a:pPr algn="l"/>
            <a:endParaRPr lang="es-MX" sz="2000" dirty="0"/>
          </a:p>
          <a:p>
            <a:pPr algn="l"/>
            <a:endParaRPr lang="es-MX" sz="2000" dirty="0"/>
          </a:p>
          <a:p>
            <a:pPr algn="l"/>
            <a:endParaRPr lang="es-MX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0A08FE-C2E4-8E12-AD78-442448B11A23}"/>
              </a:ext>
            </a:extLst>
          </p:cNvPr>
          <p:cNvCxnSpPr/>
          <p:nvPr/>
        </p:nvCxnSpPr>
        <p:spPr>
          <a:xfrm>
            <a:off x="832104" y="722376"/>
            <a:ext cx="0" cy="5394960"/>
          </a:xfrm>
          <a:prstGeom prst="line">
            <a:avLst/>
          </a:prstGeom>
          <a:ln w="28575">
            <a:solidFill>
              <a:srgbClr val="B10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7EFB7AEE-7AB7-1D44-D4C3-1A95CBB2AFEB}"/>
              </a:ext>
            </a:extLst>
          </p:cNvPr>
          <p:cNvSpPr txBox="1">
            <a:spLocks/>
          </p:cNvSpPr>
          <p:nvPr/>
        </p:nvSpPr>
        <p:spPr>
          <a:xfrm>
            <a:off x="1676400" y="3001963"/>
            <a:ext cx="9144000" cy="460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i="1" dirty="0">
                <a:solidFill>
                  <a:srgbClr val="B10F2E"/>
                </a:solidFill>
              </a:rPr>
              <a:t>Distribución y oportunidades de ahorro (2025-2026)</a:t>
            </a:r>
          </a:p>
        </p:txBody>
      </p:sp>
      <p:pic>
        <p:nvPicPr>
          <p:cNvPr id="7" name="Graphic 6" descr="Lion outline">
            <a:extLst>
              <a:ext uri="{FF2B5EF4-FFF2-40B4-BE49-F238E27FC236}">
                <a16:creationId xmlns:a16="http://schemas.microsoft.com/office/drawing/2014/main" id="{080F88A3-1163-DC8E-879E-1B7AE68CE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3999" y="44530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7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C9C121-1723-D8B8-2C1F-1CA870F0555A}"/>
              </a:ext>
            </a:extLst>
          </p:cNvPr>
          <p:cNvSpPr/>
          <p:nvPr/>
        </p:nvSpPr>
        <p:spPr>
          <a:xfrm>
            <a:off x="1009660" y="2480467"/>
            <a:ext cx="2286003" cy="40481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s-MX" sz="1600" i="1" dirty="0">
                <a:solidFill>
                  <a:srgbClr val="4D4D4D"/>
                </a:solidFill>
              </a:rPr>
              <a:t>¿Cuál es la diferencia en el volumen total de piezas entregadas entre procedimientos consolidados y no consolidados?</a:t>
            </a:r>
          </a:p>
          <a:p>
            <a:pPr algn="ctr"/>
            <a:endParaRPr lang="en-US" sz="1600" i="1" dirty="0">
              <a:solidFill>
                <a:srgbClr val="4D4D4D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EAF87E-50FD-4E75-A73E-2C3D6071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2</a:t>
            </a:fld>
            <a:endParaRPr lang="en-US" sz="36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C818B0-6B4C-9E11-286A-FBAD7A42ADE1}"/>
              </a:ext>
            </a:extLst>
          </p:cNvPr>
          <p:cNvSpPr/>
          <p:nvPr/>
        </p:nvSpPr>
        <p:spPr>
          <a:xfrm>
            <a:off x="1009661" y="1744663"/>
            <a:ext cx="2286003" cy="1325562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4000" dirty="0"/>
              <a:t>1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E0F3E9A-D247-DBEC-0809-BED5FBCCC81B}"/>
              </a:ext>
            </a:extLst>
          </p:cNvPr>
          <p:cNvSpPr/>
          <p:nvPr/>
        </p:nvSpPr>
        <p:spPr>
          <a:xfrm>
            <a:off x="1009659" y="2627311"/>
            <a:ext cx="2286002" cy="128627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4D4D4D"/>
                </a:solidFill>
              </a:rPr>
              <a:t>Tipos de procedimientos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585218-CBD9-1A25-B80B-1606FD1F9400}"/>
              </a:ext>
            </a:extLst>
          </p:cNvPr>
          <p:cNvSpPr/>
          <p:nvPr/>
        </p:nvSpPr>
        <p:spPr>
          <a:xfrm>
            <a:off x="3552831" y="2480467"/>
            <a:ext cx="2286003" cy="40481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s-MX" sz="1600" i="1" dirty="0">
                <a:solidFill>
                  <a:srgbClr val="4D4D4D"/>
                </a:solidFill>
              </a:rPr>
              <a:t>¿Cómo se comporta la distribución de piezas solicitadas a nivel mensual y semanal por institución?</a:t>
            </a:r>
          </a:p>
          <a:p>
            <a:pPr algn="ctr"/>
            <a:endParaRPr lang="es-MX" sz="1600" i="1" dirty="0">
              <a:solidFill>
                <a:srgbClr val="4D4D4D"/>
              </a:solidFill>
            </a:endParaRPr>
          </a:p>
          <a:p>
            <a:pPr algn="ctr"/>
            <a:endParaRPr lang="en-US" sz="1600" i="1" dirty="0">
              <a:solidFill>
                <a:srgbClr val="4D4D4D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CBF57E-057A-6B6C-1FA5-843DCCB85650}"/>
              </a:ext>
            </a:extLst>
          </p:cNvPr>
          <p:cNvSpPr/>
          <p:nvPr/>
        </p:nvSpPr>
        <p:spPr>
          <a:xfrm>
            <a:off x="3552831" y="1744663"/>
            <a:ext cx="2286003" cy="132556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4000" dirty="0"/>
              <a:t>2</a:t>
            </a:r>
            <a:endParaRPr lang="en-US" sz="4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B9F631-5E1E-8325-C448-2A28EB8927E3}"/>
              </a:ext>
            </a:extLst>
          </p:cNvPr>
          <p:cNvSpPr/>
          <p:nvPr/>
        </p:nvSpPr>
        <p:spPr>
          <a:xfrm>
            <a:off x="3552831" y="2627311"/>
            <a:ext cx="2286002" cy="128627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4D4D4D"/>
                </a:solidFill>
              </a:rPr>
              <a:t>Distribución temporal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CE03D3-6AE9-521B-2874-63DA5C315C66}"/>
              </a:ext>
            </a:extLst>
          </p:cNvPr>
          <p:cNvSpPr/>
          <p:nvPr/>
        </p:nvSpPr>
        <p:spPr>
          <a:xfrm>
            <a:off x="6096000" y="2480467"/>
            <a:ext cx="2286003" cy="40481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s-MX" sz="1600" i="1" dirty="0">
                <a:solidFill>
                  <a:srgbClr val="4D4D4D"/>
                </a:solidFill>
              </a:rPr>
              <a:t>¿Qué adjudicaciones presentan diferencias entre su precio unitario actual y el precio más bajo disponible?</a:t>
            </a:r>
          </a:p>
          <a:p>
            <a:pPr algn="ctr"/>
            <a:endParaRPr lang="es-MX" sz="1600" i="1" dirty="0">
              <a:solidFill>
                <a:srgbClr val="4D4D4D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B99132-9969-85E3-F8AB-5F2B3884AB97}"/>
              </a:ext>
            </a:extLst>
          </p:cNvPr>
          <p:cNvSpPr/>
          <p:nvPr/>
        </p:nvSpPr>
        <p:spPr>
          <a:xfrm>
            <a:off x="6096000" y="1744663"/>
            <a:ext cx="2286003" cy="132556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4000" dirty="0"/>
              <a:t>3</a:t>
            </a:r>
            <a:endParaRPr lang="en-US" sz="40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321BAB7-9854-EB93-24F4-3B4E48AE888E}"/>
              </a:ext>
            </a:extLst>
          </p:cNvPr>
          <p:cNvSpPr/>
          <p:nvPr/>
        </p:nvSpPr>
        <p:spPr>
          <a:xfrm>
            <a:off x="6096001" y="2627311"/>
            <a:ext cx="2286002" cy="128627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4D4D4D"/>
                </a:solidFill>
              </a:rPr>
              <a:t>Oportunidades de ahorro</a:t>
            </a:r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897BD03-43FD-8569-281E-1D59650CF126}"/>
              </a:ext>
            </a:extLst>
          </p:cNvPr>
          <p:cNvSpPr/>
          <p:nvPr/>
        </p:nvSpPr>
        <p:spPr>
          <a:xfrm>
            <a:off x="8705850" y="2480467"/>
            <a:ext cx="2286003" cy="40481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s-MX" sz="1600" i="1" dirty="0">
                <a:solidFill>
                  <a:srgbClr val="4D4D4D"/>
                </a:solidFill>
              </a:rPr>
              <a:t>¿Qué entidades federativas concentran mayor volumen y diversidad de medicamentos durante 2026?</a:t>
            </a:r>
          </a:p>
          <a:p>
            <a:pPr algn="ctr"/>
            <a:endParaRPr lang="es-MX" sz="1600" i="1" dirty="0">
              <a:solidFill>
                <a:srgbClr val="4D4D4D"/>
              </a:solidFill>
            </a:endParaRPr>
          </a:p>
          <a:p>
            <a:pPr algn="ctr"/>
            <a:endParaRPr lang="es-MX" sz="1600" i="1" dirty="0">
              <a:solidFill>
                <a:srgbClr val="4D4D4D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95AC9B2-E14A-7A83-88EE-B9025E25D6FA}"/>
              </a:ext>
            </a:extLst>
          </p:cNvPr>
          <p:cNvSpPr/>
          <p:nvPr/>
        </p:nvSpPr>
        <p:spPr>
          <a:xfrm>
            <a:off x="8705850" y="1744663"/>
            <a:ext cx="2286003" cy="132556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4000" dirty="0"/>
              <a:t>4</a:t>
            </a:r>
            <a:endParaRPr lang="en-US" sz="40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7E075CD-B190-6B28-C666-9FA3B8594AFA}"/>
              </a:ext>
            </a:extLst>
          </p:cNvPr>
          <p:cNvSpPr/>
          <p:nvPr/>
        </p:nvSpPr>
        <p:spPr>
          <a:xfrm>
            <a:off x="8705851" y="2627311"/>
            <a:ext cx="2286002" cy="128627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rgbClr val="4D4D4D"/>
                </a:solidFill>
              </a:rPr>
              <a:t>Distribución geográfica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5FEF18C-0672-ABEA-DC47-FE27DE39E012}"/>
              </a:ext>
            </a:extLst>
          </p:cNvPr>
          <p:cNvSpPr/>
          <p:nvPr/>
        </p:nvSpPr>
        <p:spPr>
          <a:xfrm>
            <a:off x="838200" y="1249759"/>
            <a:ext cx="10153653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rgbClr val="4D4D4D"/>
                </a:solidFill>
              </a:rPr>
              <a:t>En el contexto de solicitudes y entrega de medicamentos, se busca analizar…</a:t>
            </a:r>
            <a:endParaRPr lang="en-US" i="1" dirty="0">
              <a:solidFill>
                <a:srgbClr val="4D4D4D"/>
              </a:solidFill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D6FBBB6-E6B3-53FE-49BB-8469B997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537" y="459186"/>
            <a:ext cx="6121400" cy="613872"/>
          </a:xfrm>
        </p:spPr>
        <p:txBody>
          <a:bodyPr>
            <a:normAutofit fontScale="90000"/>
          </a:bodyPr>
          <a:lstStyle/>
          <a:p>
            <a:pPr algn="ctr"/>
            <a:r>
              <a:rPr lang="es-MX" sz="4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Objetivos del análisis</a:t>
            </a:r>
            <a:endParaRPr lang="en-US" sz="40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85E3DE-E356-792F-1BA1-795799627F31}"/>
              </a:ext>
            </a:extLst>
          </p:cNvPr>
          <p:cNvCxnSpPr>
            <a:cxnSpLocks/>
          </p:cNvCxnSpPr>
          <p:nvPr/>
        </p:nvCxnSpPr>
        <p:spPr>
          <a:xfrm>
            <a:off x="3267075" y="1123950"/>
            <a:ext cx="5657850" cy="0"/>
          </a:xfrm>
          <a:prstGeom prst="line">
            <a:avLst/>
          </a:prstGeom>
          <a:ln w="28575">
            <a:solidFill>
              <a:srgbClr val="57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23D212-D282-1089-6537-192110D0DF7F}"/>
              </a:ext>
            </a:extLst>
          </p:cNvPr>
          <p:cNvCxnSpPr>
            <a:cxnSpLocks/>
          </p:cNvCxnSpPr>
          <p:nvPr/>
        </p:nvCxnSpPr>
        <p:spPr>
          <a:xfrm>
            <a:off x="3267075" y="419100"/>
            <a:ext cx="5648325" cy="0"/>
          </a:xfrm>
          <a:prstGeom prst="line">
            <a:avLst/>
          </a:prstGeom>
          <a:ln w="28575">
            <a:solidFill>
              <a:srgbClr val="57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4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F43A-D2F3-F547-0EEA-EDD7D7BF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A6EF35D-2D7A-70E7-D69D-6A1009FB15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121723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A5BDACF-977C-820D-7796-6386450B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458634"/>
            <a:ext cx="3581400" cy="613872"/>
          </a:xfrm>
        </p:spPr>
        <p:txBody>
          <a:bodyPr>
            <a:normAutofit fontScale="90000"/>
          </a:bodyPr>
          <a:lstStyle/>
          <a:p>
            <a:pPr algn="ctr"/>
            <a:r>
              <a:rPr lang="es-MX" sz="40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Metodología</a:t>
            </a:r>
            <a:endParaRPr lang="en-US" sz="40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091C889-317D-948E-9A93-B50E5AAF06E4}"/>
              </a:ext>
            </a:extLst>
          </p:cNvPr>
          <p:cNvCxnSpPr>
            <a:cxnSpLocks/>
          </p:cNvCxnSpPr>
          <p:nvPr/>
        </p:nvCxnSpPr>
        <p:spPr>
          <a:xfrm>
            <a:off x="3267075" y="1123950"/>
            <a:ext cx="5657850" cy="0"/>
          </a:xfrm>
          <a:prstGeom prst="line">
            <a:avLst/>
          </a:prstGeom>
          <a:ln w="28575">
            <a:solidFill>
              <a:srgbClr val="57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4F47D0-FCA2-E1C6-6A0B-483E477F1F70}"/>
              </a:ext>
            </a:extLst>
          </p:cNvPr>
          <p:cNvCxnSpPr>
            <a:cxnSpLocks/>
          </p:cNvCxnSpPr>
          <p:nvPr/>
        </p:nvCxnSpPr>
        <p:spPr>
          <a:xfrm>
            <a:off x="3267075" y="419100"/>
            <a:ext cx="5648325" cy="0"/>
          </a:xfrm>
          <a:prstGeom prst="line">
            <a:avLst/>
          </a:prstGeom>
          <a:ln w="28575">
            <a:solidFill>
              <a:srgbClr val="57000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44F33E-0FA9-362F-53BF-15794795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3</a:t>
            </a:fld>
            <a:endParaRPr lang="en-US" sz="3600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A83AFFB-1F07-CD0C-C1DA-303DDD0FFDF4}"/>
              </a:ext>
            </a:extLst>
          </p:cNvPr>
          <p:cNvSpPr/>
          <p:nvPr/>
        </p:nvSpPr>
        <p:spPr>
          <a:xfrm>
            <a:off x="752475" y="1379559"/>
            <a:ext cx="2886075" cy="2468071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B10F2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2A9D8F"/>
                </a:solidFill>
              </a:rPr>
              <a:t>clave</a:t>
            </a:r>
          </a:p>
          <a:p>
            <a:r>
              <a:rPr lang="es-MX" sz="1400" b="1" dirty="0">
                <a:solidFill>
                  <a:srgbClr val="2A7076"/>
                </a:solidFill>
              </a:rPr>
              <a:t>entidad</a:t>
            </a:r>
          </a:p>
          <a:p>
            <a:r>
              <a:rPr lang="es-MX" sz="1400" b="1" dirty="0">
                <a:solidFill>
                  <a:srgbClr val="264653"/>
                </a:solidFill>
              </a:rPr>
              <a:t>proveedor</a:t>
            </a:r>
          </a:p>
          <a:p>
            <a:r>
              <a:rPr lang="en-US" sz="1400" dirty="0" err="1"/>
              <a:t>procedimiento</a:t>
            </a:r>
            <a:endParaRPr lang="en-US" sz="1400" dirty="0"/>
          </a:p>
          <a:p>
            <a:r>
              <a:rPr lang="en-US" sz="1400" dirty="0" err="1"/>
              <a:t>tipo</a:t>
            </a:r>
            <a:r>
              <a:rPr lang="en-US" sz="1400" dirty="0"/>
              <a:t> de </a:t>
            </a:r>
            <a:r>
              <a:rPr lang="en-US" sz="1400" dirty="0" err="1"/>
              <a:t>procedimiento</a:t>
            </a:r>
            <a:endParaRPr lang="en-US" sz="1400" dirty="0"/>
          </a:p>
          <a:p>
            <a:r>
              <a:rPr lang="en-US" sz="1400" dirty="0" err="1"/>
              <a:t>institución</a:t>
            </a:r>
            <a:endParaRPr lang="en-US" sz="1400" dirty="0"/>
          </a:p>
          <a:p>
            <a:r>
              <a:rPr lang="en-US" sz="1400" dirty="0" err="1"/>
              <a:t>unidad_medica</a:t>
            </a:r>
            <a:endParaRPr lang="en-US" sz="1400" dirty="0"/>
          </a:p>
          <a:p>
            <a:r>
              <a:rPr lang="en-US" sz="1400" dirty="0" err="1"/>
              <a:t>fecha_solicitud</a:t>
            </a:r>
            <a:endParaRPr lang="en-US" sz="1400" dirty="0"/>
          </a:p>
          <a:p>
            <a:r>
              <a:rPr lang="en-US" sz="1400" dirty="0" err="1"/>
              <a:t>piezas_solicitadas</a:t>
            </a:r>
            <a:endParaRPr lang="en-US" sz="1400" dirty="0"/>
          </a:p>
          <a:p>
            <a:r>
              <a:rPr lang="en-US" sz="1400" dirty="0" err="1"/>
              <a:t>fecha_entrega</a:t>
            </a:r>
            <a:endParaRPr lang="en-US" sz="1400" dirty="0"/>
          </a:p>
          <a:p>
            <a:r>
              <a:rPr lang="en-US" sz="1400" dirty="0" err="1"/>
              <a:t>piezas_entregadas</a:t>
            </a:r>
            <a:endParaRPr lang="en-US" sz="1400" dirty="0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38003852-EB61-89B2-60C7-52B1CC2A8B13}"/>
              </a:ext>
            </a:extLst>
          </p:cNvPr>
          <p:cNvSpPr/>
          <p:nvPr/>
        </p:nvSpPr>
        <p:spPr>
          <a:xfrm>
            <a:off x="8553450" y="1694654"/>
            <a:ext cx="2886075" cy="742950"/>
          </a:xfrm>
          <a:prstGeom prst="flowChartAlternate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B10F2E"/>
                </a:solidFill>
              </a:rPr>
              <a:t>entidad</a:t>
            </a:r>
          </a:p>
          <a:p>
            <a:r>
              <a:rPr lang="es-MX" sz="1400" dirty="0"/>
              <a:t>población por entidad</a:t>
            </a:r>
          </a:p>
          <a:p>
            <a:r>
              <a:rPr lang="es-MX" sz="1400" b="1" dirty="0"/>
              <a:t>volumen/población</a:t>
            </a:r>
            <a:endParaRPr lang="en-US" sz="1400" b="1" dirty="0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EDAA7B30-CD6A-6052-AC31-6336BE29914E}"/>
              </a:ext>
            </a:extLst>
          </p:cNvPr>
          <p:cNvSpPr/>
          <p:nvPr/>
        </p:nvSpPr>
        <p:spPr>
          <a:xfrm>
            <a:off x="8553450" y="3847630"/>
            <a:ext cx="3190875" cy="2075657"/>
          </a:xfrm>
          <a:prstGeom prst="flowChartAlternateProcess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b="1" dirty="0">
                <a:solidFill>
                  <a:srgbClr val="B10F2E"/>
                </a:solidFill>
              </a:rPr>
              <a:t>clave </a:t>
            </a:r>
            <a:r>
              <a:rPr lang="es-MX" sz="1400" dirty="0">
                <a:solidFill>
                  <a:srgbClr val="B10F2E"/>
                </a:solidFill>
              </a:rPr>
              <a:t>(de medicamento)</a:t>
            </a:r>
          </a:p>
          <a:p>
            <a:r>
              <a:rPr lang="es-MX" sz="1400" dirty="0">
                <a:solidFill>
                  <a:schemeClr val="tx1"/>
                </a:solidFill>
              </a:rPr>
              <a:t>descripción (de medicamento)</a:t>
            </a:r>
          </a:p>
          <a:p>
            <a:r>
              <a:rPr lang="es-MX" sz="1400" dirty="0" err="1"/>
              <a:t>tipo_insumo</a:t>
            </a:r>
            <a:r>
              <a:rPr lang="es-MX" sz="1400" dirty="0"/>
              <a:t> = “MEDICAMENTO”</a:t>
            </a:r>
          </a:p>
          <a:p>
            <a:r>
              <a:rPr lang="es-MX" sz="1400" dirty="0"/>
              <a:t>proveedor</a:t>
            </a:r>
          </a:p>
          <a:p>
            <a:r>
              <a:rPr lang="es-MX" sz="1400" dirty="0"/>
              <a:t>precio</a:t>
            </a:r>
          </a:p>
          <a:p>
            <a:r>
              <a:rPr lang="es-MX" sz="1400" dirty="0"/>
              <a:t>cantidad</a:t>
            </a:r>
          </a:p>
          <a:p>
            <a:r>
              <a:rPr lang="es-MX" sz="1400" dirty="0"/>
              <a:t>valor</a:t>
            </a:r>
          </a:p>
          <a:p>
            <a:r>
              <a:rPr lang="es-MX" sz="1400" b="1" dirty="0"/>
              <a:t>precio mínimo</a:t>
            </a:r>
          </a:p>
          <a:p>
            <a:r>
              <a:rPr lang="es-MX" sz="1400" b="1" dirty="0"/>
              <a:t>margen porcentual</a:t>
            </a:r>
            <a:endParaRPr lang="en-US" sz="14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EEB1A8-F72C-F6F8-F69E-97372F314AE4}"/>
              </a:ext>
            </a:extLst>
          </p:cNvPr>
          <p:cNvSpPr/>
          <p:nvPr/>
        </p:nvSpPr>
        <p:spPr>
          <a:xfrm>
            <a:off x="428625" y="6211490"/>
            <a:ext cx="4991100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Objetivos </a:t>
            </a:r>
            <a:r>
              <a:rPr lang="es-MX" sz="1200" b="1" i="1" dirty="0">
                <a:solidFill>
                  <a:srgbClr val="264653"/>
                </a:solidFill>
              </a:rPr>
              <a:t>1</a:t>
            </a:r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s-MX" sz="1200" b="1" i="1" dirty="0">
                <a:solidFill>
                  <a:srgbClr val="2A9D8F"/>
                </a:solidFill>
              </a:rPr>
              <a:t>2</a:t>
            </a:r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 </a:t>
            </a:r>
            <a:r>
              <a:rPr lang="es-MX" sz="1200" b="1" i="1" dirty="0">
                <a:solidFill>
                  <a:srgbClr val="F4A261"/>
                </a:solidFill>
              </a:rPr>
              <a:t>3</a:t>
            </a:r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 fecha de solicitud entre May2025-Feb2026</a:t>
            </a:r>
          </a:p>
          <a:p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Objetivo </a:t>
            </a:r>
            <a:r>
              <a:rPr lang="es-MX" sz="1200" b="1" i="1" dirty="0">
                <a:solidFill>
                  <a:srgbClr val="E76F51"/>
                </a:solidFill>
              </a:rPr>
              <a:t>4 </a:t>
            </a:r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 fecha de solicitud entre 01Ene-24Abr 2026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93093E-3260-AF49-9DFF-6B8EAFACBD94}"/>
              </a:ext>
            </a:extLst>
          </p:cNvPr>
          <p:cNvSpPr/>
          <p:nvPr/>
        </p:nvSpPr>
        <p:spPr>
          <a:xfrm>
            <a:off x="6515100" y="538161"/>
            <a:ext cx="2343150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Fuentes y métricas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06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E33E27-45AD-29D1-26BB-8294E39B357D}"/>
              </a:ext>
            </a:extLst>
          </p:cNvPr>
          <p:cNvSpPr/>
          <p:nvPr/>
        </p:nvSpPr>
        <p:spPr>
          <a:xfrm>
            <a:off x="5248275" y="0"/>
            <a:ext cx="69437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de2" descr="P1a">
            <a:extLst>
              <a:ext uri="{FF2B5EF4-FFF2-40B4-BE49-F238E27FC236}">
                <a16:creationId xmlns:a16="http://schemas.microsoft.com/office/drawing/2014/main" id="{14E40ED0-700A-49B4-BB78-15EE90BAA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3" b="15376"/>
          <a:stretch>
            <a:fillRect/>
          </a:stretch>
        </p:blipFill>
        <p:spPr>
          <a:xfrm>
            <a:off x="5933500" y="1162479"/>
            <a:ext cx="5263712" cy="5271078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997F28-7DB7-FC96-C1F2-F0DC3BFCAB8E}"/>
              </a:ext>
            </a:extLst>
          </p:cNvPr>
          <p:cNvSpPr/>
          <p:nvPr/>
        </p:nvSpPr>
        <p:spPr>
          <a:xfrm>
            <a:off x="204787" y="979516"/>
            <a:ext cx="4962525" cy="1286273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s-MX" sz="1600" b="1" dirty="0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Consolidados</a:t>
            </a:r>
            <a:r>
              <a:rPr lang="es-MX" sz="1600" dirty="0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      </a:t>
            </a:r>
            <a:r>
              <a:rPr lang="en-US" sz="1600" dirty="0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→ </a:t>
            </a:r>
            <a:r>
              <a:rPr lang="en-US" sz="1600" dirty="0" err="1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cargamento</a:t>
            </a:r>
            <a:r>
              <a:rPr lang="en-US" sz="1600" dirty="0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agrupado</a:t>
            </a:r>
            <a:r>
              <a:rPr lang="en-US" sz="1600" dirty="0">
                <a:ln w="0"/>
                <a:solidFill>
                  <a:srgbClr val="B10F2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1600" b="1" dirty="0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No </a:t>
            </a:r>
            <a:r>
              <a:rPr lang="en-US" sz="1600" b="1" dirty="0" err="1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Consolidados</a:t>
            </a:r>
            <a:r>
              <a:rPr lang="en-US" sz="1600" b="1" dirty="0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1600" dirty="0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→ </a:t>
            </a:r>
            <a:r>
              <a:rPr lang="en-US" sz="1600" dirty="0" err="1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cargamento</a:t>
            </a:r>
            <a:r>
              <a:rPr lang="en-US" sz="1600" dirty="0">
                <a:ln w="0"/>
                <a:solidFill>
                  <a:srgbClr val="2A9D8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individual  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54147544-F2E8-E392-629D-510A0EE4B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837004"/>
              </p:ext>
            </p:extLst>
          </p:nvPr>
        </p:nvGraphicFramePr>
        <p:xfrm>
          <a:off x="414076" y="2534915"/>
          <a:ext cx="4552341" cy="4186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DEF7D0-FA96-1717-664D-C3E752BC86E2}"/>
              </a:ext>
            </a:extLst>
          </p:cNvPr>
          <p:cNvSpPr/>
          <p:nvPr/>
        </p:nvSpPr>
        <p:spPr>
          <a:xfrm>
            <a:off x="3740450" y="2972542"/>
            <a:ext cx="1306930" cy="595937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s-MX" sz="12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103,116,393</a:t>
            </a:r>
            <a:endParaRPr lang="en-US" sz="16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50E29C-EA96-F975-9857-06B684786E27}"/>
              </a:ext>
            </a:extLst>
          </p:cNvPr>
          <p:cNvSpPr/>
          <p:nvPr/>
        </p:nvSpPr>
        <p:spPr>
          <a:xfrm>
            <a:off x="3925448" y="3632545"/>
            <a:ext cx="656077" cy="291341"/>
          </a:xfrm>
          <a:prstGeom prst="round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s-MX" sz="12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122</a:t>
            </a:r>
            <a:endParaRPr lang="en-US" sz="12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id="{2F18CD28-1056-11F6-4D2D-9CB821D7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4</a:t>
            </a:fld>
            <a:endParaRPr lang="en-US" sz="3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C76C20-8448-ED4D-4A1C-903BB61423B9}"/>
              </a:ext>
            </a:extLst>
          </p:cNvPr>
          <p:cNvSpPr/>
          <p:nvPr/>
        </p:nvSpPr>
        <p:spPr>
          <a:xfrm>
            <a:off x="232929" y="5314123"/>
            <a:ext cx="1762124" cy="705462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s-MX" sz="12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+mj-lt"/>
                <a:ea typeface="+mj-ea"/>
                <a:cs typeface="+mj-cs"/>
              </a:rPr>
              <a:t>1,004,306,044</a:t>
            </a:r>
            <a:endParaRPr lang="en-US" sz="16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28" name="slide2" descr="P1a">
            <a:extLst>
              <a:ext uri="{FF2B5EF4-FFF2-40B4-BE49-F238E27FC236}">
                <a16:creationId xmlns:a16="http://schemas.microsoft.com/office/drawing/2014/main" id="{DA380858-139C-D11A-2A3F-76F34F7BA2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59" r="23246" b="-234"/>
          <a:stretch>
            <a:fillRect/>
          </a:stretch>
        </p:blipFill>
        <p:spPr>
          <a:xfrm>
            <a:off x="9986573" y="3558909"/>
            <a:ext cx="1895864" cy="386784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09C9DAC-4AD1-E8E1-FAE2-08FB60B12647}"/>
              </a:ext>
            </a:extLst>
          </p:cNvPr>
          <p:cNvSpPr txBox="1">
            <a:spLocks/>
          </p:cNvSpPr>
          <p:nvPr/>
        </p:nvSpPr>
        <p:spPr>
          <a:xfrm>
            <a:off x="603690" y="177198"/>
            <a:ext cx="4563622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Tipos de procedimiento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BB9FE63-B41A-525E-9717-5F58F256C0F0}"/>
              </a:ext>
            </a:extLst>
          </p:cNvPr>
          <p:cNvSpPr/>
          <p:nvPr/>
        </p:nvSpPr>
        <p:spPr>
          <a:xfrm>
            <a:off x="4735073" y="353830"/>
            <a:ext cx="1360927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8A388A-5AB3-110C-6E3B-193973128C70}"/>
              </a:ext>
            </a:extLst>
          </p:cNvPr>
          <p:cNvSpPr/>
          <p:nvPr/>
        </p:nvSpPr>
        <p:spPr>
          <a:xfrm>
            <a:off x="5907171" y="353830"/>
            <a:ext cx="6365792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compra consolidada domina </a:t>
            </a:r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suministro</a:t>
            </a:r>
          </a:p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IMSS también 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concentra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mayor </a:t>
            </a:r>
            <a:r>
              <a:rPr lang="en-US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entrega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del total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D28076-9D24-36FA-38CE-A2D4F67C705F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1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FB4863-2202-E57A-6536-D9CDFD526AB7}"/>
              </a:ext>
            </a:extLst>
          </p:cNvPr>
          <p:cNvGrpSpPr/>
          <p:nvPr/>
        </p:nvGrpSpPr>
        <p:grpSpPr>
          <a:xfrm>
            <a:off x="542308" y="202705"/>
            <a:ext cx="4705968" cy="704850"/>
            <a:chOff x="8208778" y="316310"/>
            <a:chExt cx="3831970" cy="70485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E17B162-953A-E578-AEE1-F15E7F1552F2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4FADE-6456-9C26-5EBA-A6BDA7DB98B8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23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0C82-567E-4BBB-5C5A-3BA6FCBB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9B38F4-E924-62BE-B83D-F97105F594B8}"/>
              </a:ext>
            </a:extLst>
          </p:cNvPr>
          <p:cNvSpPr/>
          <p:nvPr/>
        </p:nvSpPr>
        <p:spPr>
          <a:xfrm>
            <a:off x="1" y="1058680"/>
            <a:ext cx="12192000" cy="5799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B02C2C-6E8C-6554-0649-A77591BC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164498"/>
            <a:ext cx="4563623" cy="651165"/>
          </a:xfrm>
        </p:spPr>
        <p:txBody>
          <a:bodyPr>
            <a:normAutofit/>
          </a:bodyPr>
          <a:lstStyle/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Distribución temporal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F10580-E56E-E79E-801C-6F1E674B4F06}"/>
              </a:ext>
            </a:extLst>
          </p:cNvPr>
          <p:cNvGrpSpPr/>
          <p:nvPr/>
        </p:nvGrpSpPr>
        <p:grpSpPr>
          <a:xfrm>
            <a:off x="542307" y="202705"/>
            <a:ext cx="5762625" cy="704850"/>
            <a:chOff x="8208778" y="316310"/>
            <a:chExt cx="3831970" cy="7048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B28B43F-836E-388F-537F-5EEA127D9C21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E5E93F-DE9F-F977-0477-6DBB41CA7C49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E90DBD-A10A-5871-49CC-3ED4E32BAEE4}"/>
              </a:ext>
            </a:extLst>
          </p:cNvPr>
          <p:cNvSpPr/>
          <p:nvPr/>
        </p:nvSpPr>
        <p:spPr>
          <a:xfrm>
            <a:off x="4944005" y="327721"/>
            <a:ext cx="1360927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Mensual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4D8037E5-B149-327A-2EDB-1C80724E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5</a:t>
            </a:fld>
            <a:endParaRPr lang="en-US" sz="3600" dirty="0"/>
          </a:p>
        </p:txBody>
      </p:sp>
      <p:pic>
        <p:nvPicPr>
          <p:cNvPr id="2" name="slide2" descr="P1b2">
            <a:extLst>
              <a:ext uri="{FF2B5EF4-FFF2-40B4-BE49-F238E27FC236}">
                <a16:creationId xmlns:a16="http://schemas.microsoft.com/office/drawing/2014/main" id="{0616D898-C061-9B42-A131-761341178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2"/>
          <a:stretch>
            <a:fillRect/>
          </a:stretch>
        </p:blipFill>
        <p:spPr>
          <a:xfrm>
            <a:off x="333375" y="1236848"/>
            <a:ext cx="10146988" cy="5267322"/>
          </a:xfrm>
          <a:prstGeom prst="rect">
            <a:avLst/>
          </a:prstGeom>
        </p:spPr>
      </p:pic>
      <p:pic>
        <p:nvPicPr>
          <p:cNvPr id="4" name="slide2" descr="P1b2">
            <a:extLst>
              <a:ext uri="{FF2B5EF4-FFF2-40B4-BE49-F238E27FC236}">
                <a16:creationId xmlns:a16="http://schemas.microsoft.com/office/drawing/2014/main" id="{9D56F4CD-1D6F-DC30-5AE3-9AA07CE5AE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18"/>
          <a:stretch>
            <a:fillRect/>
          </a:stretch>
        </p:blipFill>
        <p:spPr>
          <a:xfrm>
            <a:off x="464004" y="6479528"/>
            <a:ext cx="9570392" cy="29931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06E86D-2A49-1971-5C07-249EE53C5DC6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2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BCA184-CEA7-679A-B734-34BC87F76475}"/>
              </a:ext>
            </a:extLst>
          </p:cNvPr>
          <p:cNvGrpSpPr/>
          <p:nvPr/>
        </p:nvGrpSpPr>
        <p:grpSpPr>
          <a:xfrm>
            <a:off x="2686050" y="207751"/>
            <a:ext cx="9539914" cy="3945149"/>
            <a:chOff x="2686050" y="207751"/>
            <a:chExt cx="9539914" cy="39451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08CAFE4-F8AE-E4E7-B9A1-90D9E16F89A7}"/>
                </a:ext>
              </a:extLst>
            </p:cNvPr>
            <p:cNvSpPr/>
            <p:nvPr/>
          </p:nvSpPr>
          <p:spPr>
            <a:xfrm>
              <a:off x="6371428" y="207751"/>
              <a:ext cx="5854536" cy="72949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b="1" i="1" dirty="0">
                  <a:solidFill>
                    <a:srgbClr val="00B050"/>
                  </a:solidFill>
                </a:rPr>
                <a:t>Picos máximos 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 Julio, Noviembre y Enero</a:t>
              </a:r>
            </a:p>
            <a:p>
              <a:r>
                <a:rPr lang="es-MX" b="1" i="1" dirty="0">
                  <a:solidFill>
                    <a:srgbClr val="B10F2E"/>
                  </a:solidFill>
                </a:rPr>
                <a:t>Valles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 Septiembre y Diciembre</a:t>
              </a:r>
              <a:endPara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IMSS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domina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consistentemente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 demanda</a:t>
              </a:r>
              <a:endPara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8A0207D-7523-E3C6-BC56-278944AD45F3}"/>
                </a:ext>
              </a:extLst>
            </p:cNvPr>
            <p:cNvCxnSpPr/>
            <p:nvPr/>
          </p:nvCxnSpPr>
          <p:spPr>
            <a:xfrm>
              <a:off x="2686050" y="16668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7F477A0-B4C6-481C-68C7-80202A1D4468}"/>
                </a:ext>
              </a:extLst>
            </p:cNvPr>
            <p:cNvCxnSpPr/>
            <p:nvPr/>
          </p:nvCxnSpPr>
          <p:spPr>
            <a:xfrm>
              <a:off x="6019800" y="20288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F6C005E-73DA-ED34-C760-474020900631}"/>
                </a:ext>
              </a:extLst>
            </p:cNvPr>
            <p:cNvCxnSpPr/>
            <p:nvPr/>
          </p:nvCxnSpPr>
          <p:spPr>
            <a:xfrm>
              <a:off x="7715250" y="11334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82D6D79-F730-49FF-9902-7289A346ECB7}"/>
                </a:ext>
              </a:extLst>
            </p:cNvPr>
            <p:cNvCxnSpPr/>
            <p:nvPr/>
          </p:nvCxnSpPr>
          <p:spPr>
            <a:xfrm>
              <a:off x="6877050" y="3429000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E481EEB-EAE6-7E54-64D0-C62FE4216F66}"/>
                </a:ext>
              </a:extLst>
            </p:cNvPr>
            <p:cNvCxnSpPr/>
            <p:nvPr/>
          </p:nvCxnSpPr>
          <p:spPr>
            <a:xfrm>
              <a:off x="4381500" y="2638425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75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94CD-27E4-C64C-BA2F-72E347CA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D8402-73B0-333F-4B4A-D079E8516B85}"/>
              </a:ext>
            </a:extLst>
          </p:cNvPr>
          <p:cNvSpPr>
            <a:spLocks/>
          </p:cNvSpPr>
          <p:nvPr/>
        </p:nvSpPr>
        <p:spPr>
          <a:xfrm>
            <a:off x="1" y="1058680"/>
            <a:ext cx="12192000" cy="5799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2" descr="P1b3">
            <a:extLst>
              <a:ext uri="{FF2B5EF4-FFF2-40B4-BE49-F238E27FC236}">
                <a16:creationId xmlns:a16="http://schemas.microsoft.com/office/drawing/2014/main" id="{E7EFBE7E-B849-4DF7-B228-B9900B607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51"/>
          <a:stretch>
            <a:fillRect/>
          </a:stretch>
        </p:blipFill>
        <p:spPr>
          <a:xfrm>
            <a:off x="187133" y="1202791"/>
            <a:ext cx="10363044" cy="5047304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FDEFB9C7-E7FB-D99F-C9A8-BB336B84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6</a:t>
            </a:fld>
            <a:endParaRPr lang="en-US" sz="3600" dirty="0"/>
          </a:p>
        </p:txBody>
      </p:sp>
      <p:pic>
        <p:nvPicPr>
          <p:cNvPr id="4" name="slide2" descr="P1b3">
            <a:extLst>
              <a:ext uri="{FF2B5EF4-FFF2-40B4-BE49-F238E27FC236}">
                <a16:creationId xmlns:a16="http://schemas.microsoft.com/office/drawing/2014/main" id="{F4208D9C-73A0-71EE-776E-86785D724D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58" b="-872"/>
          <a:stretch>
            <a:fillRect/>
          </a:stretch>
        </p:blipFill>
        <p:spPr>
          <a:xfrm>
            <a:off x="123824" y="6257109"/>
            <a:ext cx="10506075" cy="37207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9D5769C-DD31-0DDC-5FC4-801E3DC8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164498"/>
            <a:ext cx="4563623" cy="651165"/>
          </a:xfrm>
        </p:spPr>
        <p:txBody>
          <a:bodyPr>
            <a:normAutofit/>
          </a:bodyPr>
          <a:lstStyle/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Distribución temporal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3E8ECA-C14C-EDE9-3C1F-80068F048843}"/>
              </a:ext>
            </a:extLst>
          </p:cNvPr>
          <p:cNvGrpSpPr/>
          <p:nvPr/>
        </p:nvGrpSpPr>
        <p:grpSpPr>
          <a:xfrm>
            <a:off x="542307" y="202705"/>
            <a:ext cx="5762625" cy="704850"/>
            <a:chOff x="8208778" y="316310"/>
            <a:chExt cx="3831970" cy="7048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59AE38-CBA6-9CB0-A3FC-CFDA4FE6F56E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9492B3-A360-073F-64B0-3B1D02321DE7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3B93E8-6DF1-23E9-3E9B-8F117CFD6CB2}"/>
              </a:ext>
            </a:extLst>
          </p:cNvPr>
          <p:cNvSpPr/>
          <p:nvPr/>
        </p:nvSpPr>
        <p:spPr>
          <a:xfrm>
            <a:off x="4944005" y="327721"/>
            <a:ext cx="1360927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Semanal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CD059D-F01A-D745-E846-E77DDE16AD24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2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95FB13-DC55-58E7-F4BF-53356C7FB59B}"/>
              </a:ext>
            </a:extLst>
          </p:cNvPr>
          <p:cNvGrpSpPr/>
          <p:nvPr/>
        </p:nvGrpSpPr>
        <p:grpSpPr>
          <a:xfrm>
            <a:off x="714375" y="353830"/>
            <a:ext cx="10534650" cy="5075420"/>
            <a:chOff x="714375" y="353830"/>
            <a:chExt cx="10534650" cy="50754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D6306E5-0176-A102-5A2E-C17E87C699CC}"/>
                </a:ext>
              </a:extLst>
            </p:cNvPr>
            <p:cNvSpPr/>
            <p:nvPr/>
          </p:nvSpPr>
          <p:spPr>
            <a:xfrm>
              <a:off x="6483926" y="353830"/>
              <a:ext cx="4765099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Los </a:t>
              </a:r>
              <a:r>
                <a:rPr lang="es-MX" b="1" i="1" dirty="0">
                  <a:solidFill>
                    <a:srgbClr val="00B050"/>
                  </a:solidFill>
                </a:rPr>
                <a:t>picos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y </a:t>
              </a:r>
              <a:r>
                <a:rPr lang="es-MX" b="1" i="1" dirty="0">
                  <a:solidFill>
                    <a:srgbClr val="FF0000"/>
                  </a:solidFill>
                </a:rPr>
                <a:t>depresiones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de entrega coinciden con los de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demanda</a:t>
              </a:r>
              <a:endPara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1D0C27D-FFCC-37FC-24DA-8B87B98EF6A1}"/>
                </a:ext>
              </a:extLst>
            </p:cNvPr>
            <p:cNvCxnSpPr/>
            <p:nvPr/>
          </p:nvCxnSpPr>
          <p:spPr>
            <a:xfrm>
              <a:off x="1943100" y="30670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254D419-0FE0-4286-905C-375357060109}"/>
                </a:ext>
              </a:extLst>
            </p:cNvPr>
            <p:cNvCxnSpPr/>
            <p:nvPr/>
          </p:nvCxnSpPr>
          <p:spPr>
            <a:xfrm>
              <a:off x="2771775" y="19145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B4FB6BB-2AFD-9D59-3627-04BCD29FFBE3}"/>
                </a:ext>
              </a:extLst>
            </p:cNvPr>
            <p:cNvCxnSpPr/>
            <p:nvPr/>
          </p:nvCxnSpPr>
          <p:spPr>
            <a:xfrm>
              <a:off x="3200400" y="33337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93A0A79-3BB7-BBAF-81D4-F8D69252403C}"/>
                </a:ext>
              </a:extLst>
            </p:cNvPr>
            <p:cNvCxnSpPr/>
            <p:nvPr/>
          </p:nvCxnSpPr>
          <p:spPr>
            <a:xfrm>
              <a:off x="3971925" y="29622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C90606E-DE4A-9AA1-DF7F-C76D86EEECB1}"/>
                </a:ext>
              </a:extLst>
            </p:cNvPr>
            <p:cNvCxnSpPr/>
            <p:nvPr/>
          </p:nvCxnSpPr>
          <p:spPr>
            <a:xfrm>
              <a:off x="4419600" y="34290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8065E7F-AF37-2FE0-19D0-668E9DB2A600}"/>
                </a:ext>
              </a:extLst>
            </p:cNvPr>
            <p:cNvCxnSpPr/>
            <p:nvPr/>
          </p:nvCxnSpPr>
          <p:spPr>
            <a:xfrm>
              <a:off x="4810125" y="32004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5F32BEB-A563-8CA6-6A7F-244300A88E72}"/>
                </a:ext>
              </a:extLst>
            </p:cNvPr>
            <p:cNvCxnSpPr/>
            <p:nvPr/>
          </p:nvCxnSpPr>
          <p:spPr>
            <a:xfrm>
              <a:off x="5448300" y="33337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7FB2E3A-F789-06A1-4445-9EB599AB2EB3}"/>
                </a:ext>
              </a:extLst>
            </p:cNvPr>
            <p:cNvCxnSpPr/>
            <p:nvPr/>
          </p:nvCxnSpPr>
          <p:spPr>
            <a:xfrm>
              <a:off x="6638925" y="16954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0F365A8-3C03-0D6D-14E0-95542498D752}"/>
                </a:ext>
              </a:extLst>
            </p:cNvPr>
            <p:cNvCxnSpPr/>
            <p:nvPr/>
          </p:nvCxnSpPr>
          <p:spPr>
            <a:xfrm>
              <a:off x="7086600" y="33242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994547E-30B3-55F2-0833-D3CEFCFA5290}"/>
                </a:ext>
              </a:extLst>
            </p:cNvPr>
            <p:cNvCxnSpPr/>
            <p:nvPr/>
          </p:nvCxnSpPr>
          <p:spPr>
            <a:xfrm>
              <a:off x="7877175" y="9715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D0C9DD8-A7A7-8C3C-87AB-6FFC58BD77E8}"/>
                </a:ext>
              </a:extLst>
            </p:cNvPr>
            <p:cNvCxnSpPr/>
            <p:nvPr/>
          </p:nvCxnSpPr>
          <p:spPr>
            <a:xfrm>
              <a:off x="8486775" y="31146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8156683-BBF8-9B9C-BF6C-7C816A9476D1}"/>
                </a:ext>
              </a:extLst>
            </p:cNvPr>
            <p:cNvCxnSpPr/>
            <p:nvPr/>
          </p:nvCxnSpPr>
          <p:spPr>
            <a:xfrm>
              <a:off x="8877300" y="27051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FF7F084-78D0-DAB4-4814-C175FAFC3BDD}"/>
                </a:ext>
              </a:extLst>
            </p:cNvPr>
            <p:cNvCxnSpPr/>
            <p:nvPr/>
          </p:nvCxnSpPr>
          <p:spPr>
            <a:xfrm>
              <a:off x="6010275" y="40481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29C8E2C-5A0D-A5AE-37AF-060DE021D78C}"/>
                </a:ext>
              </a:extLst>
            </p:cNvPr>
            <p:cNvCxnSpPr/>
            <p:nvPr/>
          </p:nvCxnSpPr>
          <p:spPr>
            <a:xfrm>
              <a:off x="1343025" y="32004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A413CA2-DA20-7C82-85FB-D461F096F1E0}"/>
                </a:ext>
              </a:extLst>
            </p:cNvPr>
            <p:cNvCxnSpPr/>
            <p:nvPr/>
          </p:nvCxnSpPr>
          <p:spPr>
            <a:xfrm>
              <a:off x="714375" y="39243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A5CA941-8CD4-C5E1-2CDD-21E67E15403D}"/>
                </a:ext>
              </a:extLst>
            </p:cNvPr>
            <p:cNvCxnSpPr/>
            <p:nvPr/>
          </p:nvCxnSpPr>
          <p:spPr>
            <a:xfrm>
              <a:off x="2343150" y="4286250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6B8BCEF-A26A-4BC2-4C21-7B199B853F8C}"/>
                </a:ext>
              </a:extLst>
            </p:cNvPr>
            <p:cNvCxnSpPr/>
            <p:nvPr/>
          </p:nvCxnSpPr>
          <p:spPr>
            <a:xfrm>
              <a:off x="7572375" y="4705350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593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A059-96BE-40F6-677F-4DD798A3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slide2" descr="P1b3 (2)">
            <a:extLst>
              <a:ext uri="{FF2B5EF4-FFF2-40B4-BE49-F238E27FC236}">
                <a16:creationId xmlns:a16="http://schemas.microsoft.com/office/drawing/2014/main" id="{0C517C28-A3D3-404D-9BB4-E09C2A3E77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6"/>
          <a:stretch>
            <a:fillRect/>
          </a:stretch>
        </p:blipFill>
        <p:spPr>
          <a:xfrm>
            <a:off x="189260" y="1198198"/>
            <a:ext cx="10360917" cy="5058910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4197412-765F-7210-0129-FFA19BD1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7</a:t>
            </a:fld>
            <a:endParaRPr lang="en-US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79EBB0-3BEA-21AC-BC22-48784A3B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164498"/>
            <a:ext cx="4563623" cy="651165"/>
          </a:xfrm>
        </p:spPr>
        <p:txBody>
          <a:bodyPr>
            <a:normAutofit/>
          </a:bodyPr>
          <a:lstStyle/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Distribución temporal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B693DB-08A8-C874-5E11-6BFB74EB7156}"/>
              </a:ext>
            </a:extLst>
          </p:cNvPr>
          <p:cNvGrpSpPr/>
          <p:nvPr/>
        </p:nvGrpSpPr>
        <p:grpSpPr>
          <a:xfrm>
            <a:off x="542307" y="202705"/>
            <a:ext cx="5762625" cy="704850"/>
            <a:chOff x="8208778" y="316310"/>
            <a:chExt cx="3831970" cy="7048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4ED556-BC19-06ED-3D1A-000B3CE14685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5CC603-4907-4420-CD96-971829329557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2A9D8F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BD248F-478B-EB6F-F084-F2B57FA9AAD9}"/>
              </a:ext>
            </a:extLst>
          </p:cNvPr>
          <p:cNvSpPr/>
          <p:nvPr/>
        </p:nvSpPr>
        <p:spPr>
          <a:xfrm>
            <a:off x="4944005" y="327721"/>
            <a:ext cx="1360927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Semanal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A915CB-B67C-5631-153D-746DE624491D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2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AB1EF2-EB66-CCCE-027D-6BBB5C6A2CE5}"/>
              </a:ext>
            </a:extLst>
          </p:cNvPr>
          <p:cNvGrpSpPr/>
          <p:nvPr/>
        </p:nvGrpSpPr>
        <p:grpSpPr>
          <a:xfrm>
            <a:off x="714375" y="353830"/>
            <a:ext cx="11624087" cy="5075420"/>
            <a:chOff x="714375" y="353830"/>
            <a:chExt cx="11624087" cy="50754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B83AFCF-3950-3615-6428-9623E946A0DE}"/>
                </a:ext>
              </a:extLst>
            </p:cNvPr>
            <p:cNvSpPr/>
            <p:nvPr/>
          </p:nvSpPr>
          <p:spPr>
            <a:xfrm>
              <a:off x="6483926" y="353830"/>
              <a:ext cx="5854536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demanda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semanal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es altamente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irregular</a:t>
              </a:r>
            </a:p>
            <a:p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Existen </a:t>
              </a:r>
              <a:r>
                <a:rPr lang="es-MX" b="1" i="1" dirty="0">
                  <a:solidFill>
                    <a:srgbClr val="00B050"/>
                  </a:solidFill>
                </a:rPr>
                <a:t>picos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de demanda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por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quincena</a:t>
              </a:r>
            </a:p>
            <a:p>
              <a:r>
                <a:rPr lang="es-MX" b="1" i="1" dirty="0">
                  <a:solidFill>
                    <a:srgbClr val="C00000"/>
                  </a:solidFill>
                </a:rPr>
                <a:t>Depresión</a:t>
              </a:r>
              <a:r>
                <a:rPr lang="es-MX" b="1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 solicitudes en Junio y Diciembre</a:t>
              </a:r>
            </a:p>
            <a:p>
              <a:endPara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06DF318-4D0E-AB81-987D-4EA604F681D5}"/>
                </a:ext>
              </a:extLst>
            </p:cNvPr>
            <p:cNvCxnSpPr/>
            <p:nvPr/>
          </p:nvCxnSpPr>
          <p:spPr>
            <a:xfrm>
              <a:off x="1943100" y="30670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7EFB2DC-F49E-75C0-3AF4-070AC679653E}"/>
                </a:ext>
              </a:extLst>
            </p:cNvPr>
            <p:cNvCxnSpPr/>
            <p:nvPr/>
          </p:nvCxnSpPr>
          <p:spPr>
            <a:xfrm>
              <a:off x="2771775" y="19145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F69D37-935A-B0B7-0E4F-560A2E663F67}"/>
                </a:ext>
              </a:extLst>
            </p:cNvPr>
            <p:cNvCxnSpPr/>
            <p:nvPr/>
          </p:nvCxnSpPr>
          <p:spPr>
            <a:xfrm>
              <a:off x="3200400" y="33337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66B5CAC-2F1E-48CD-1DE8-4BA63001C95D}"/>
                </a:ext>
              </a:extLst>
            </p:cNvPr>
            <p:cNvCxnSpPr/>
            <p:nvPr/>
          </p:nvCxnSpPr>
          <p:spPr>
            <a:xfrm>
              <a:off x="3971925" y="29622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DB29538-791F-C0E1-8AB0-4612687D5CA4}"/>
                </a:ext>
              </a:extLst>
            </p:cNvPr>
            <p:cNvCxnSpPr/>
            <p:nvPr/>
          </p:nvCxnSpPr>
          <p:spPr>
            <a:xfrm>
              <a:off x="4419600" y="34290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30C0F0E-6905-5891-F491-CD8535210B8B}"/>
                </a:ext>
              </a:extLst>
            </p:cNvPr>
            <p:cNvCxnSpPr/>
            <p:nvPr/>
          </p:nvCxnSpPr>
          <p:spPr>
            <a:xfrm>
              <a:off x="4810125" y="32004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EB1984A-5936-3777-E4F0-E399F75E4667}"/>
                </a:ext>
              </a:extLst>
            </p:cNvPr>
            <p:cNvCxnSpPr/>
            <p:nvPr/>
          </p:nvCxnSpPr>
          <p:spPr>
            <a:xfrm>
              <a:off x="5448300" y="33337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247D950-4313-AAE9-47D7-E72D92AB05BC}"/>
                </a:ext>
              </a:extLst>
            </p:cNvPr>
            <p:cNvCxnSpPr/>
            <p:nvPr/>
          </p:nvCxnSpPr>
          <p:spPr>
            <a:xfrm>
              <a:off x="6638925" y="16954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F5C9FC9-A589-24C3-AF62-2A44B7DAE4A9}"/>
                </a:ext>
              </a:extLst>
            </p:cNvPr>
            <p:cNvCxnSpPr/>
            <p:nvPr/>
          </p:nvCxnSpPr>
          <p:spPr>
            <a:xfrm>
              <a:off x="7086600" y="33242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7CC2A35-9267-59A9-BAC8-78A7C55A7CAF}"/>
                </a:ext>
              </a:extLst>
            </p:cNvPr>
            <p:cNvCxnSpPr/>
            <p:nvPr/>
          </p:nvCxnSpPr>
          <p:spPr>
            <a:xfrm>
              <a:off x="7877175" y="97155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FF9B490-ECE3-CDA8-15D6-727687D27959}"/>
                </a:ext>
              </a:extLst>
            </p:cNvPr>
            <p:cNvCxnSpPr/>
            <p:nvPr/>
          </p:nvCxnSpPr>
          <p:spPr>
            <a:xfrm>
              <a:off x="8486775" y="311467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33A5CD0-0EF6-D074-57EF-A212FF890E62}"/>
                </a:ext>
              </a:extLst>
            </p:cNvPr>
            <p:cNvCxnSpPr/>
            <p:nvPr/>
          </p:nvCxnSpPr>
          <p:spPr>
            <a:xfrm>
              <a:off x="8877300" y="27051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A54C7AD-7357-CA9A-E35A-E9D404AFEC5C}"/>
                </a:ext>
              </a:extLst>
            </p:cNvPr>
            <p:cNvCxnSpPr/>
            <p:nvPr/>
          </p:nvCxnSpPr>
          <p:spPr>
            <a:xfrm>
              <a:off x="6010275" y="4048125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25B283D-19FC-AB58-B877-E31A18E05CFC}"/>
                </a:ext>
              </a:extLst>
            </p:cNvPr>
            <p:cNvCxnSpPr/>
            <p:nvPr/>
          </p:nvCxnSpPr>
          <p:spPr>
            <a:xfrm>
              <a:off x="1343025" y="32004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905A2B3-9BA3-E29B-447A-51F0BDB6968C}"/>
                </a:ext>
              </a:extLst>
            </p:cNvPr>
            <p:cNvCxnSpPr/>
            <p:nvPr/>
          </p:nvCxnSpPr>
          <p:spPr>
            <a:xfrm>
              <a:off x="714375" y="3924300"/>
              <a:ext cx="0" cy="72390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DB7B4A2-0EDD-3045-6591-643D307A4E8A}"/>
                </a:ext>
              </a:extLst>
            </p:cNvPr>
            <p:cNvCxnSpPr/>
            <p:nvPr/>
          </p:nvCxnSpPr>
          <p:spPr>
            <a:xfrm>
              <a:off x="2343150" y="4286250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59F0FBF-799F-9D86-5062-4FA734005767}"/>
                </a:ext>
              </a:extLst>
            </p:cNvPr>
            <p:cNvCxnSpPr/>
            <p:nvPr/>
          </p:nvCxnSpPr>
          <p:spPr>
            <a:xfrm>
              <a:off x="7572375" y="4705350"/>
              <a:ext cx="0" cy="723900"/>
            </a:xfrm>
            <a:prstGeom prst="straightConnector1">
              <a:avLst/>
            </a:prstGeom>
            <a:ln>
              <a:solidFill>
                <a:srgbClr val="B10F2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A67E95-8A39-BAC6-32E2-E0A4BB384CE7}"/>
              </a:ext>
            </a:extLst>
          </p:cNvPr>
          <p:cNvSpPr/>
          <p:nvPr/>
        </p:nvSpPr>
        <p:spPr>
          <a:xfrm>
            <a:off x="9461849" y="2705100"/>
            <a:ext cx="2373247" cy="36178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requiere una inspección adicional de la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incidencia temporal por enfermedad.</a:t>
            </a:r>
          </a:p>
        </p:txBody>
      </p:sp>
      <p:pic>
        <p:nvPicPr>
          <p:cNvPr id="41" name="slide2" descr="P1b3 (2)">
            <a:extLst>
              <a:ext uri="{FF2B5EF4-FFF2-40B4-BE49-F238E27FC236}">
                <a16:creationId xmlns:a16="http://schemas.microsoft.com/office/drawing/2014/main" id="{4754CFE2-3D00-A263-9998-EED1F4D0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262"/>
          <a:stretch>
            <a:fillRect/>
          </a:stretch>
        </p:blipFill>
        <p:spPr>
          <a:xfrm>
            <a:off x="189259" y="6274955"/>
            <a:ext cx="10360917" cy="25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1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E41C-280E-69C6-1F01-51D36736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AE9ED99F-DC49-9B05-D975-9534A0D26FE6}"/>
              </a:ext>
            </a:extLst>
          </p:cNvPr>
          <p:cNvGrpSpPr/>
          <p:nvPr/>
        </p:nvGrpSpPr>
        <p:grpSpPr>
          <a:xfrm>
            <a:off x="151781" y="1187532"/>
            <a:ext cx="6067924" cy="5533942"/>
            <a:chOff x="151781" y="1187532"/>
            <a:chExt cx="6067924" cy="5533942"/>
          </a:xfrm>
        </p:grpSpPr>
        <p:pic>
          <p:nvPicPr>
            <p:cNvPr id="14" name="slide2" descr="P2a">
              <a:extLst>
                <a:ext uri="{FF2B5EF4-FFF2-40B4-BE49-F238E27FC236}">
                  <a16:creationId xmlns:a16="http://schemas.microsoft.com/office/drawing/2014/main" id="{518AF1FA-0986-E77E-C1D3-CE1A3EFC1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307"/>
            <a:stretch>
              <a:fillRect/>
            </a:stretch>
          </p:blipFill>
          <p:spPr>
            <a:xfrm>
              <a:off x="151781" y="1187532"/>
              <a:ext cx="5771727" cy="5533942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4B9073A-2DFE-8E15-D841-88363B969F52}"/>
                </a:ext>
              </a:extLst>
            </p:cNvPr>
            <p:cNvSpPr/>
            <p:nvPr/>
          </p:nvSpPr>
          <p:spPr>
            <a:xfrm>
              <a:off x="4853642" y="1654320"/>
              <a:ext cx="332509" cy="2060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606572-A97F-C9C5-FFAE-27D7B44B45E9}"/>
                </a:ext>
              </a:extLst>
            </p:cNvPr>
            <p:cNvSpPr/>
            <p:nvPr/>
          </p:nvSpPr>
          <p:spPr>
            <a:xfrm>
              <a:off x="5887196" y="1654320"/>
              <a:ext cx="332509" cy="2060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9CF04E0-DBBE-5025-61F8-599BA1DD67D1}"/>
              </a:ext>
            </a:extLst>
          </p:cNvPr>
          <p:cNvSpPr txBox="1">
            <a:spLocks/>
          </p:cNvSpPr>
          <p:nvPr/>
        </p:nvSpPr>
        <p:spPr>
          <a:xfrm>
            <a:off x="542307" y="191251"/>
            <a:ext cx="5762625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Identificación de sobreprecio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slide2" descr="P2a">
            <a:extLst>
              <a:ext uri="{FF2B5EF4-FFF2-40B4-BE49-F238E27FC236}">
                <a16:creationId xmlns:a16="http://schemas.microsoft.com/office/drawing/2014/main" id="{1100E325-DECF-0D4D-8E56-0F2EE84257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06" r="18785" b="463"/>
          <a:stretch>
            <a:fillRect/>
          </a:stretch>
        </p:blipFill>
        <p:spPr>
          <a:xfrm>
            <a:off x="5011601" y="5924335"/>
            <a:ext cx="2381384" cy="623129"/>
          </a:xfrm>
          <a:prstGeom prst="rect">
            <a:avLst/>
          </a:prstGeom>
        </p:spPr>
      </p:pic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282E2FDF-8344-5B61-C9A0-0F70A912CD51}"/>
              </a:ext>
            </a:extLst>
          </p:cNvPr>
          <p:cNvSpPr txBox="1">
            <a:spLocks/>
          </p:cNvSpPr>
          <p:nvPr/>
        </p:nvSpPr>
        <p:spPr>
          <a:xfrm>
            <a:off x="11525250" y="6105524"/>
            <a:ext cx="447675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8</a:t>
            </a:fld>
            <a:endParaRPr lang="en-US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414F4D-D5E7-CA69-A4B0-2350EC1A4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55" y="1922125"/>
            <a:ext cx="5290146" cy="928589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AB2949-CE03-43BE-C910-EAAD9BCEB842}"/>
              </a:ext>
            </a:extLst>
          </p:cNvPr>
          <p:cNvSpPr/>
          <p:nvPr/>
        </p:nvSpPr>
        <p:spPr>
          <a:xfrm>
            <a:off x="7786826" y="1570393"/>
            <a:ext cx="2914403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Margen de Sobreprecio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73CCDF-F88E-29DC-29F4-99ED83B8D1E4}"/>
              </a:ext>
            </a:extLst>
          </p:cNvPr>
          <p:cNvGrpSpPr/>
          <p:nvPr/>
        </p:nvGrpSpPr>
        <p:grpSpPr>
          <a:xfrm>
            <a:off x="855023" y="353830"/>
            <a:ext cx="11362679" cy="5916341"/>
            <a:chOff x="855023" y="353830"/>
            <a:chExt cx="11362679" cy="591634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B59EA45-D3E6-5514-54C1-3F44B6613258}"/>
                </a:ext>
              </a:extLst>
            </p:cNvPr>
            <p:cNvSpPr/>
            <p:nvPr/>
          </p:nvSpPr>
          <p:spPr>
            <a:xfrm>
              <a:off x="6483926" y="353830"/>
              <a:ext cx="4217303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Casos de sobreprecio identificados (9% de las adjudicaciones)</a:t>
              </a:r>
              <a:endParaRPr lang="en-US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8008FF0-075A-B1CC-3E7F-9D3DE2580BD9}"/>
                </a:ext>
              </a:extLst>
            </p:cNvPr>
            <p:cNvSpPr/>
            <p:nvPr/>
          </p:nvSpPr>
          <p:spPr>
            <a:xfrm>
              <a:off x="2634341" y="4096148"/>
              <a:ext cx="3164776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rgbClr val="00B050"/>
                  </a:solidFill>
                </a:rPr>
                <a:t>Precio = Precio mínimo</a:t>
              </a:r>
              <a:endParaRPr lang="en-US" i="1" dirty="0">
                <a:solidFill>
                  <a:srgbClr val="00B050"/>
                </a:solidFill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2EC060-3CC8-BBCD-D8FD-4D271149B9AE}"/>
                </a:ext>
              </a:extLst>
            </p:cNvPr>
            <p:cNvCxnSpPr/>
            <p:nvPr/>
          </p:nvCxnSpPr>
          <p:spPr>
            <a:xfrm flipV="1">
              <a:off x="855023" y="1922125"/>
              <a:ext cx="3835730" cy="43480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Alternate Process 18">
              <a:extLst>
                <a:ext uri="{FF2B5EF4-FFF2-40B4-BE49-F238E27FC236}">
                  <a16:creationId xmlns:a16="http://schemas.microsoft.com/office/drawing/2014/main" id="{AB61B2E9-D817-07CC-6DF2-665BBC6B7D5C}"/>
                </a:ext>
              </a:extLst>
            </p:cNvPr>
            <p:cNvSpPr/>
            <p:nvPr/>
          </p:nvSpPr>
          <p:spPr>
            <a:xfrm rot="18728827">
              <a:off x="291771" y="3259355"/>
              <a:ext cx="4294049" cy="833059"/>
            </a:xfrm>
            <a:prstGeom prst="flowChartAlternateProcess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BAACEB7-66C9-C235-1CB4-8CB2930E3C01}"/>
                </a:ext>
              </a:extLst>
            </p:cNvPr>
            <p:cNvSpPr/>
            <p:nvPr/>
          </p:nvSpPr>
          <p:spPr>
            <a:xfrm>
              <a:off x="1017446" y="2175428"/>
              <a:ext cx="2070137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chemeClr val="accent1"/>
                  </a:solidFill>
                </a:rPr>
                <a:t>Adjudicaciones a sobreprecio</a:t>
              </a:r>
              <a:endParaRPr lang="en-US" i="1" dirty="0">
                <a:solidFill>
                  <a:schemeClr val="accent1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E484F9C-AD76-B4A3-50BA-1E5889AE5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rcRect t="18066" r="81770"/>
            <a:stretch>
              <a:fillRect/>
            </a:stretch>
          </p:blipFill>
          <p:spPr>
            <a:xfrm rot="10800000">
              <a:off x="8516798" y="4183705"/>
              <a:ext cx="415162" cy="1103902"/>
            </a:xfrm>
            <a:prstGeom prst="rect">
              <a:avLst/>
            </a:prstGeom>
          </p:spPr>
        </p:pic>
        <p:pic>
          <p:nvPicPr>
            <p:cNvPr id="27" name="slide2" descr="Hoja 20">
              <a:extLst>
                <a:ext uri="{FF2B5EF4-FFF2-40B4-BE49-F238E27FC236}">
                  <a16:creationId xmlns:a16="http://schemas.microsoft.com/office/drawing/2014/main" id="{FB20DE26-A3B5-A140-25EE-3DC94DA70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93" t="25771" r="43594" b="28311"/>
            <a:stretch>
              <a:fillRect/>
            </a:stretch>
          </p:blipFill>
          <p:spPr>
            <a:xfrm>
              <a:off x="5799117" y="3297421"/>
              <a:ext cx="2535331" cy="2373047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5BFF4F-6A4A-EAA9-5990-D53BA38DA677}"/>
                </a:ext>
              </a:extLst>
            </p:cNvPr>
            <p:cNvSpPr/>
            <p:nvPr/>
          </p:nvSpPr>
          <p:spPr>
            <a:xfrm>
              <a:off x="8724379" y="4050745"/>
              <a:ext cx="3493323" cy="1393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MX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Precio adecuado (0-20)%                 </a:t>
              </a:r>
              <a:r>
                <a:rPr lang="es-MX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18,177</a:t>
              </a:r>
              <a:endParaRPr lang="es-MX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es-MX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Sobreprecio ligero (20-40)%                </a:t>
              </a:r>
              <a:r>
                <a:rPr lang="es-MX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1,242</a:t>
              </a:r>
              <a:endParaRPr lang="es-MX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es-MX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Sobreprecio moderado (40-60)%          </a:t>
              </a:r>
              <a:r>
                <a:rPr lang="es-MX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325</a:t>
              </a:r>
              <a:endParaRPr lang="es-MX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es-MX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Sobreprecio alto (60-80)%                      </a:t>
              </a:r>
              <a:r>
                <a:rPr lang="es-MX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186</a:t>
              </a:r>
              <a:endParaRPr lang="es-MX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>
                <a:spcAft>
                  <a:spcPts val="400"/>
                </a:spcAft>
              </a:pPr>
              <a:r>
                <a:rPr lang="es-MX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Sobreprecio extremo (80-100)%               </a:t>
              </a:r>
              <a:r>
                <a:rPr lang="es-MX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91</a:t>
              </a:r>
              <a:endParaRPr lang="es-MX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9932FF5-7469-5FCC-2EC5-80F7EA700071}"/>
                </a:ext>
              </a:extLst>
            </p:cNvPr>
            <p:cNvSpPr/>
            <p:nvPr/>
          </p:nvSpPr>
          <p:spPr>
            <a:xfrm>
              <a:off x="8467875" y="3592590"/>
              <a:ext cx="3505050" cy="45481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MX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Adjudicaciones clasificadas</a:t>
              </a:r>
              <a:endParaRPr lang="en-US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DA6205A-B5E4-EC88-41C6-33972C4470D9}"/>
                </a:ext>
              </a:extLst>
            </p:cNvPr>
            <p:cNvSpPr/>
            <p:nvPr/>
          </p:nvSpPr>
          <p:spPr>
            <a:xfrm>
              <a:off x="6413317" y="4886382"/>
              <a:ext cx="1306930" cy="595937"/>
            </a:xfrm>
            <a:prstGeom prst="round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algn="ctr" defTabSz="914400">
                <a:lnSpc>
                  <a:spcPct val="90000"/>
                </a:lnSpc>
                <a:spcBef>
                  <a:spcPct val="0"/>
                </a:spcBef>
              </a:pPr>
              <a:r>
                <a:rPr lang="es-MX" sz="1200" dirty="0">
                  <a:ln w="0"/>
                  <a:solidFill>
                    <a:srgbClr val="4D4D4D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  <a:cs typeface="+mj-cs"/>
                </a:rPr>
                <a:t>91%</a:t>
              </a:r>
              <a:endParaRPr lang="en-US" sz="16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9786903-B2A4-2BAB-B26E-BC20068621B7}"/>
                </a:ext>
              </a:extLst>
            </p:cNvPr>
            <p:cNvSpPr/>
            <p:nvPr/>
          </p:nvSpPr>
          <p:spPr>
            <a:xfrm>
              <a:off x="6739520" y="3381233"/>
              <a:ext cx="1306930" cy="595937"/>
            </a:xfrm>
            <a:prstGeom prst="round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algn="ctr" defTabSz="914400">
                <a:lnSpc>
                  <a:spcPct val="90000"/>
                </a:lnSpc>
                <a:spcBef>
                  <a:spcPct val="0"/>
                </a:spcBef>
              </a:pPr>
              <a:r>
                <a:rPr lang="es-MX" sz="1200" dirty="0">
                  <a:ln w="0"/>
                  <a:solidFill>
                    <a:srgbClr val="4D4D4D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  <a:cs typeface="+mj-cs"/>
                </a:rPr>
                <a:t>6%</a:t>
              </a:r>
              <a:endParaRPr lang="en-US" sz="16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3E7C9AA-03A6-7E0E-0339-395DB4DFD314}"/>
                </a:ext>
              </a:extLst>
            </p:cNvPr>
            <p:cNvSpPr/>
            <p:nvPr/>
          </p:nvSpPr>
          <p:spPr>
            <a:xfrm>
              <a:off x="6664326" y="2996653"/>
              <a:ext cx="1306930" cy="595937"/>
            </a:xfrm>
            <a:prstGeom prst="round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algn="ctr" defTabSz="914400">
                <a:lnSpc>
                  <a:spcPct val="90000"/>
                </a:lnSpc>
                <a:spcBef>
                  <a:spcPct val="0"/>
                </a:spcBef>
              </a:pPr>
              <a:r>
                <a:rPr lang="es-MX" sz="1200" dirty="0">
                  <a:ln w="0"/>
                  <a:solidFill>
                    <a:srgbClr val="4D4D4D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  <a:cs typeface="+mj-cs"/>
                </a:rPr>
                <a:t>2%</a:t>
              </a:r>
              <a:endParaRPr lang="en-US" sz="16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D799617-547C-1CD4-18B5-255335847A40}"/>
                </a:ext>
              </a:extLst>
            </p:cNvPr>
            <p:cNvSpPr/>
            <p:nvPr/>
          </p:nvSpPr>
          <p:spPr>
            <a:xfrm>
              <a:off x="6496330" y="2849069"/>
              <a:ext cx="1306930" cy="595937"/>
            </a:xfrm>
            <a:prstGeom prst="round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/>
            <a:p>
              <a:pPr algn="ctr" defTabSz="914400">
                <a:lnSpc>
                  <a:spcPct val="90000"/>
                </a:lnSpc>
                <a:spcBef>
                  <a:spcPct val="0"/>
                </a:spcBef>
              </a:pPr>
              <a:r>
                <a:rPr lang="es-MX" sz="1200" dirty="0">
                  <a:ln w="0"/>
                  <a:solidFill>
                    <a:srgbClr val="4D4D4D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+mj-ea"/>
                  <a:cs typeface="+mj-cs"/>
                </a:rPr>
                <a:t>1%</a:t>
              </a:r>
              <a:endParaRPr lang="en-US" sz="16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399CAD3-F139-D4FF-C878-634EC3873C3B}"/>
              </a:ext>
            </a:extLst>
          </p:cNvPr>
          <p:cNvSpPr/>
          <p:nvPr/>
        </p:nvSpPr>
        <p:spPr>
          <a:xfrm>
            <a:off x="6502340" y="2705556"/>
            <a:ext cx="1306930" cy="595937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endParaRPr lang="en-US" sz="16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B65962-A841-13E3-59F7-D692F9A632B5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3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45D14F-6174-D28F-BC74-C7788A888ACE}"/>
              </a:ext>
            </a:extLst>
          </p:cNvPr>
          <p:cNvGrpSpPr/>
          <p:nvPr/>
        </p:nvGrpSpPr>
        <p:grpSpPr>
          <a:xfrm>
            <a:off x="542307" y="202705"/>
            <a:ext cx="5762625" cy="704850"/>
            <a:chOff x="8208778" y="316310"/>
            <a:chExt cx="3831970" cy="7048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B889A2B-3A50-5ED3-AFFA-B02C61020FD2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F4A26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CCA70EA-5412-8D8A-0D32-6C197D503FBC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F4A26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4D0D05-7075-9744-CDF4-2322DA4DC96C}"/>
              </a:ext>
            </a:extLst>
          </p:cNvPr>
          <p:cNvSpPr/>
          <p:nvPr/>
        </p:nvSpPr>
        <p:spPr>
          <a:xfrm>
            <a:off x="7309858" y="6442552"/>
            <a:ext cx="4132265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Medicamentos</a:t>
            </a:r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adquiridos por compra </a:t>
            </a:r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consolidada</a:t>
            </a:r>
            <a:endParaRPr lang="en-US" sz="12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71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2593-7B44-6FA0-DBDA-36F16FBC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80C48120-028F-F092-DE3F-D4A0CD4A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07" y="1857431"/>
            <a:ext cx="6775046" cy="40930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B621D39-0DC2-993B-6CFE-64A5A282C25C}"/>
              </a:ext>
            </a:extLst>
          </p:cNvPr>
          <p:cNvSpPr txBox="1">
            <a:spLocks/>
          </p:cNvSpPr>
          <p:nvPr/>
        </p:nvSpPr>
        <p:spPr>
          <a:xfrm>
            <a:off x="542307" y="205385"/>
            <a:ext cx="5895975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Oportunidades de ahorro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7B9E1B26-601B-E487-ECAF-EFE38CA9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fld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1A1976-3661-F13C-6264-CD3BC6BE4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562" y="350561"/>
            <a:ext cx="5673363" cy="435624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FFDDD8-4D80-9C6B-2859-2FC1FECFBAF5}"/>
              </a:ext>
            </a:extLst>
          </p:cNvPr>
          <p:cNvSpPr/>
          <p:nvPr/>
        </p:nvSpPr>
        <p:spPr>
          <a:xfrm>
            <a:off x="8944222" y="1411975"/>
            <a:ext cx="2914403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Potencial Ahorro Total:</a:t>
            </a:r>
          </a:p>
          <a:p>
            <a:pPr algn="ctr"/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$18,281,080,006.00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670CC3-1AB5-ADB8-44F6-1DFB9AF387D7}"/>
              </a:ext>
            </a:extLst>
          </p:cNvPr>
          <p:cNvSpPr/>
          <p:nvPr/>
        </p:nvSpPr>
        <p:spPr>
          <a:xfrm>
            <a:off x="7487652" y="2047769"/>
            <a:ext cx="1282292" cy="639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100" dirty="0">
                <a:solidFill>
                  <a:srgbClr val="00B050"/>
                </a:solidFill>
              </a:rPr>
              <a:t>Precio Mínimo</a:t>
            </a:r>
          </a:p>
          <a:p>
            <a:r>
              <a:rPr lang="es-MX" sz="1100" dirty="0">
                <a:solidFill>
                  <a:srgbClr val="B10F2E"/>
                </a:solidFill>
              </a:rPr>
              <a:t>Sobreprecio</a:t>
            </a:r>
            <a:endParaRPr lang="en-US" sz="1100" dirty="0">
              <a:solidFill>
                <a:srgbClr val="B10F2E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29CCC4-8206-B63C-6ACA-CA3F45D6D85A}"/>
              </a:ext>
            </a:extLst>
          </p:cNvPr>
          <p:cNvSpPr/>
          <p:nvPr/>
        </p:nvSpPr>
        <p:spPr>
          <a:xfrm>
            <a:off x="232929" y="6403181"/>
            <a:ext cx="4132265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Medicamentos</a:t>
            </a:r>
            <a:r>
              <a:rPr lang="es-MX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adquiridos por compra </a:t>
            </a:r>
            <a:r>
              <a:rPr lang="es-MX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consolidada</a:t>
            </a:r>
            <a:endParaRPr lang="en-US" sz="12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876AAB-BCE0-8272-0024-37CFA36F01B0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3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D52F75-2F3A-4E19-0AC7-E7D84543C3CE}"/>
              </a:ext>
            </a:extLst>
          </p:cNvPr>
          <p:cNvGrpSpPr/>
          <p:nvPr/>
        </p:nvGrpSpPr>
        <p:grpSpPr>
          <a:xfrm>
            <a:off x="542308" y="202705"/>
            <a:ext cx="5350131" cy="704850"/>
            <a:chOff x="8208778" y="316310"/>
            <a:chExt cx="3831970" cy="70485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35B3FC5-A38C-8B80-6D89-658474895FB0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F4A26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4AF85DF-F098-F2E9-243C-CA7DF6128EC4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F4A26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A619A2-CA25-1589-9645-5F37777630F2}"/>
              </a:ext>
            </a:extLst>
          </p:cNvPr>
          <p:cNvCxnSpPr>
            <a:cxnSpLocks/>
          </p:cNvCxnSpPr>
          <p:nvPr/>
        </p:nvCxnSpPr>
        <p:spPr>
          <a:xfrm flipH="1">
            <a:off x="7340675" y="2291305"/>
            <a:ext cx="228871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BC5E4-557A-491E-00DA-221291F57FEF}"/>
              </a:ext>
            </a:extLst>
          </p:cNvPr>
          <p:cNvCxnSpPr>
            <a:cxnSpLocks/>
          </p:cNvCxnSpPr>
          <p:nvPr/>
        </p:nvCxnSpPr>
        <p:spPr>
          <a:xfrm flipH="1">
            <a:off x="7340675" y="2396080"/>
            <a:ext cx="228871" cy="0"/>
          </a:xfrm>
          <a:prstGeom prst="straightConnector1">
            <a:avLst/>
          </a:prstGeom>
          <a:ln>
            <a:solidFill>
              <a:srgbClr val="B10F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D6AD69-10F2-F402-F88F-A3312CD01710}"/>
              </a:ext>
            </a:extLst>
          </p:cNvPr>
          <p:cNvCxnSpPr>
            <a:cxnSpLocks/>
          </p:cNvCxnSpPr>
          <p:nvPr/>
        </p:nvCxnSpPr>
        <p:spPr>
          <a:xfrm flipH="1">
            <a:off x="7340675" y="2510380"/>
            <a:ext cx="228871" cy="0"/>
          </a:xfrm>
          <a:prstGeom prst="straightConnector1">
            <a:avLst/>
          </a:prstGeom>
          <a:ln>
            <a:solidFill>
              <a:srgbClr val="B10F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DFF499-EF94-6E39-7B20-5D5972C38260}"/>
              </a:ext>
            </a:extLst>
          </p:cNvPr>
          <p:cNvCxnSpPr>
            <a:cxnSpLocks/>
          </p:cNvCxnSpPr>
          <p:nvPr/>
        </p:nvCxnSpPr>
        <p:spPr>
          <a:xfrm>
            <a:off x="154669" y="2353345"/>
            <a:ext cx="228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BC77A8-0FF7-891E-5683-5055B59C2ACC}"/>
              </a:ext>
            </a:extLst>
          </p:cNvPr>
          <p:cNvSpPr/>
          <p:nvPr/>
        </p:nvSpPr>
        <p:spPr>
          <a:xfrm>
            <a:off x="8673396" y="2177258"/>
            <a:ext cx="3663000" cy="36178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requiere un análisis adicional de la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oferta </a:t>
            </a:r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clave de medicamento</a:t>
            </a:r>
          </a:p>
          <a:p>
            <a:endParaRPr lang="es-MX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Capacidad de los proveedores</a:t>
            </a:r>
          </a:p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Cumplimiento de los Proveedores</a:t>
            </a:r>
          </a:p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Gastos de distribución</a:t>
            </a:r>
          </a:p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s-MX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etc</a:t>
            </a:r>
            <a:endParaRPr lang="es-MX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77EB94-496B-1AFA-E2CF-7EC1A4ACFC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7313" y="1922171"/>
            <a:ext cx="228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07ADC1-0BA5-13AD-EC59-C7999CA3DB25}"/>
              </a:ext>
            </a:extLst>
          </p:cNvPr>
          <p:cNvSpPr/>
          <p:nvPr/>
        </p:nvSpPr>
        <p:spPr>
          <a:xfrm>
            <a:off x="5517798" y="1365562"/>
            <a:ext cx="1282292" cy="639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%Sobreprecio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2809D8-87CE-C2F9-BB0F-CD1332699866}"/>
              </a:ext>
            </a:extLst>
          </p:cNvPr>
          <p:cNvSpPr/>
          <p:nvPr/>
        </p:nvSpPr>
        <p:spPr>
          <a:xfrm>
            <a:off x="-98839" y="1879925"/>
            <a:ext cx="1282292" cy="639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Clave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77B63-7B01-E68D-CCED-4D5D7A2254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21609" y="1935343"/>
            <a:ext cx="228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89641B-D46F-CBC4-AC44-A582450FEE75}"/>
              </a:ext>
            </a:extLst>
          </p:cNvPr>
          <p:cNvSpPr/>
          <p:nvPr/>
        </p:nvSpPr>
        <p:spPr>
          <a:xfrm>
            <a:off x="2153484" y="1343911"/>
            <a:ext cx="1282292" cy="639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100" dirty="0">
                <a:solidFill>
                  <a:schemeClr val="tx1"/>
                </a:solidFill>
              </a:rPr>
              <a:t>Proveedores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08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52D9-9F5E-C767-0CFF-A9E6BD19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3F7619-A041-8A12-6252-AC8C1FAD1DE4}"/>
              </a:ext>
            </a:extLst>
          </p:cNvPr>
          <p:cNvSpPr txBox="1">
            <a:spLocks/>
          </p:cNvSpPr>
          <p:nvPr/>
        </p:nvSpPr>
        <p:spPr>
          <a:xfrm>
            <a:off x="506681" y="206926"/>
            <a:ext cx="6535017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Diversidad de medicamentos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slide2" descr="P3e">
            <a:extLst>
              <a:ext uri="{FF2B5EF4-FFF2-40B4-BE49-F238E27FC236}">
                <a16:creationId xmlns:a16="http://schemas.microsoft.com/office/drawing/2014/main" id="{1F4B4910-855A-0D70-B9AA-B7E400CF6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21" b="9568"/>
          <a:stretch>
            <a:fillRect/>
          </a:stretch>
        </p:blipFill>
        <p:spPr>
          <a:xfrm>
            <a:off x="333374" y="1039279"/>
            <a:ext cx="5331657" cy="5628115"/>
          </a:xfrm>
          <a:prstGeom prst="rect">
            <a:avLst/>
          </a:prstGeom>
        </p:spPr>
      </p:pic>
      <p:pic>
        <p:nvPicPr>
          <p:cNvPr id="14" name="slide2" descr="P3b">
            <a:extLst>
              <a:ext uri="{FF2B5EF4-FFF2-40B4-BE49-F238E27FC236}">
                <a16:creationId xmlns:a16="http://schemas.microsoft.com/office/drawing/2014/main" id="{0AAFF5F0-3C18-4428-AC6D-40E4B94828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" t="7820" r="12342" b="9849"/>
          <a:stretch>
            <a:fillRect/>
          </a:stretch>
        </p:blipFill>
        <p:spPr>
          <a:xfrm>
            <a:off x="5852160" y="1669311"/>
            <a:ext cx="6339840" cy="4255025"/>
          </a:xfrm>
          <a:prstGeom prst="rect">
            <a:avLst/>
          </a:prstGeom>
        </p:spPr>
      </p:pic>
      <p:pic>
        <p:nvPicPr>
          <p:cNvPr id="18" name="slide2" descr="P3e">
            <a:extLst>
              <a:ext uri="{FF2B5EF4-FFF2-40B4-BE49-F238E27FC236}">
                <a16:creationId xmlns:a16="http://schemas.microsoft.com/office/drawing/2014/main" id="{2921162A-F2A8-6FC7-5CA4-77E23A0B54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72" r="16521" b="-140"/>
          <a:stretch>
            <a:fillRect/>
          </a:stretch>
        </p:blipFill>
        <p:spPr>
          <a:xfrm>
            <a:off x="6095999" y="6092382"/>
            <a:ext cx="5133165" cy="525396"/>
          </a:xfrm>
          <a:prstGeom prst="rect">
            <a:avLst/>
          </a:prstGeom>
        </p:spPr>
      </p:pic>
      <p:sp>
        <p:nvSpPr>
          <p:cNvPr id="19" name="Slide Number Placeholder 10">
            <a:extLst>
              <a:ext uri="{FF2B5EF4-FFF2-40B4-BE49-F238E27FC236}">
                <a16:creationId xmlns:a16="http://schemas.microsoft.com/office/drawing/2014/main" id="{B483EC73-8CB6-28A6-36EC-0552F495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50" y="6105524"/>
            <a:ext cx="447675" cy="615951"/>
          </a:xfrm>
        </p:spPr>
        <p:txBody>
          <a:bodyPr/>
          <a:lstStyle/>
          <a:p>
            <a:fld id="{44E45082-A74D-4587-9352-3B7E331F15E5}" type="slidenum">
              <a:rPr lang="en-US" sz="3600" smtClean="0"/>
              <a:t>10</a:t>
            </a:fld>
            <a:endParaRPr lang="en-US" sz="3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C04FFB-44D4-5A9D-1765-47AD6314C0F2}"/>
              </a:ext>
            </a:extLst>
          </p:cNvPr>
          <p:cNvSpPr/>
          <p:nvPr/>
        </p:nvSpPr>
        <p:spPr>
          <a:xfrm>
            <a:off x="6739493" y="97169"/>
            <a:ext cx="4945826" cy="14881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Ciudad de México destaca </a:t>
            </a:r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 una mayor cantidad de claves. Se identifica una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brecha entre entidades.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E29265-CD71-E448-66EB-419FA4FA07A1}"/>
              </a:ext>
            </a:extLst>
          </p:cNvPr>
          <p:cNvSpPr/>
          <p:nvPr/>
        </p:nvSpPr>
        <p:spPr>
          <a:xfrm>
            <a:off x="964129" y="2202793"/>
            <a:ext cx="4916386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i="1" dirty="0">
              <a:solidFill>
                <a:srgbClr val="264653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A09EC9-CDBC-7499-7079-B67D59642CAB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4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57C29F-B92B-1C80-A68E-C105582BF6F1}"/>
              </a:ext>
            </a:extLst>
          </p:cNvPr>
          <p:cNvGrpSpPr/>
          <p:nvPr/>
        </p:nvGrpSpPr>
        <p:grpSpPr>
          <a:xfrm>
            <a:off x="542307" y="202705"/>
            <a:ext cx="5953743" cy="704850"/>
            <a:chOff x="8208778" y="316310"/>
            <a:chExt cx="3831970" cy="70485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C9BA7B-A638-5809-3CA5-E47839155B6D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DBF4A18-3FCC-CC45-F195-15F44CE2423D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5DAC9-273A-754C-1831-64586E62B257}"/>
              </a:ext>
            </a:extLst>
          </p:cNvPr>
          <p:cNvSpPr/>
          <p:nvPr/>
        </p:nvSpPr>
        <p:spPr>
          <a:xfrm>
            <a:off x="5665031" y="4098833"/>
            <a:ext cx="2856707" cy="17198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 métrica puede representar la </a:t>
            </a:r>
            <a:r>
              <a:rPr lang="es-E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capacidad de respuesta ante enfermedades complejas</a:t>
            </a:r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8176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5A29-8B58-F074-8FF1-C5CA28A5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2" descr="P3a">
            <a:extLst>
              <a:ext uri="{FF2B5EF4-FFF2-40B4-BE49-F238E27FC236}">
                <a16:creationId xmlns:a16="http://schemas.microsoft.com/office/drawing/2014/main" id="{E4E82B3B-B98F-4918-91BD-A4A397237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45" b="9954"/>
          <a:stretch>
            <a:fillRect/>
          </a:stretch>
        </p:blipFill>
        <p:spPr>
          <a:xfrm>
            <a:off x="333375" y="1006921"/>
            <a:ext cx="4945207" cy="5531991"/>
          </a:xfrm>
          <a:prstGeom prst="rect">
            <a:avLst/>
          </a:prstGeom>
        </p:spPr>
      </p:pic>
      <p:pic>
        <p:nvPicPr>
          <p:cNvPr id="16" name="slide2" descr="P3b (2)">
            <a:extLst>
              <a:ext uri="{FF2B5EF4-FFF2-40B4-BE49-F238E27FC236}">
                <a16:creationId xmlns:a16="http://schemas.microsoft.com/office/drawing/2014/main" id="{3F71F137-5E76-4742-B4C1-E2E847ABA7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" t="7577" r="14019" b="13614"/>
          <a:stretch>
            <a:fillRect/>
          </a:stretch>
        </p:blipFill>
        <p:spPr>
          <a:xfrm>
            <a:off x="5782956" y="1669311"/>
            <a:ext cx="6313936" cy="4089875"/>
          </a:xfrm>
          <a:prstGeom prst="rect">
            <a:avLst/>
          </a:prstGeom>
        </p:spPr>
      </p:pic>
      <p:pic>
        <p:nvPicPr>
          <p:cNvPr id="17" name="slide2" descr="P3a">
            <a:extLst>
              <a:ext uri="{FF2B5EF4-FFF2-40B4-BE49-F238E27FC236}">
                <a16:creationId xmlns:a16="http://schemas.microsoft.com/office/drawing/2014/main" id="{D443D009-E1B5-681B-0B71-59860678F3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6" r="18945" b="-724"/>
          <a:stretch>
            <a:fillRect/>
          </a:stretch>
        </p:blipFill>
        <p:spPr>
          <a:xfrm>
            <a:off x="5495501" y="5978025"/>
            <a:ext cx="5398923" cy="651161"/>
          </a:xfrm>
          <a:prstGeom prst="rect">
            <a:avLst/>
          </a:prstGeom>
        </p:spPr>
      </p:pic>
      <p:sp>
        <p:nvSpPr>
          <p:cNvPr id="18" name="Slide Number Placeholder 10">
            <a:extLst>
              <a:ext uri="{FF2B5EF4-FFF2-40B4-BE49-F238E27FC236}">
                <a16:creationId xmlns:a16="http://schemas.microsoft.com/office/drawing/2014/main" id="{9A07D101-F346-0CA0-520F-A2AC49A4C6BF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11</a:t>
            </a:fld>
            <a:endParaRPr lang="en-US" sz="3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68A5DA-F94B-2D58-3B43-2C022F5D946C}"/>
              </a:ext>
            </a:extLst>
          </p:cNvPr>
          <p:cNvSpPr/>
          <p:nvPr/>
        </p:nvSpPr>
        <p:spPr>
          <a:xfrm>
            <a:off x="6517289" y="190607"/>
            <a:ext cx="4916386" cy="74305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volumen</a:t>
            </a:r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medicamentos entregados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concentra </a:t>
            </a:r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fuertemente en </a:t>
            </a:r>
            <a:r>
              <a:rPr lang="es-MX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Ciudad de México y Estado de México. </a:t>
            </a: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C223CE-96A5-DC59-99C9-A0431A81BAEB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4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AD5481-6FE2-39A2-C82C-1D21499B8ED4}"/>
              </a:ext>
            </a:extLst>
          </p:cNvPr>
          <p:cNvGrpSpPr/>
          <p:nvPr/>
        </p:nvGrpSpPr>
        <p:grpSpPr>
          <a:xfrm>
            <a:off x="542307" y="202705"/>
            <a:ext cx="5762625" cy="704850"/>
            <a:chOff x="8208778" y="316310"/>
            <a:chExt cx="3831970" cy="70485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B4847C3-B781-C8E9-A2B8-1157AE64E40F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60D5DD-57C8-F673-C1C5-2CA4A7E0A506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B064B1A5-2D7C-66BC-FC04-58824D2661F1}"/>
              </a:ext>
            </a:extLst>
          </p:cNvPr>
          <p:cNvSpPr txBox="1">
            <a:spLocks/>
          </p:cNvSpPr>
          <p:nvPr/>
        </p:nvSpPr>
        <p:spPr>
          <a:xfrm>
            <a:off x="542307" y="191436"/>
            <a:ext cx="5921951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Volumen de medicamentos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9059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8B63-5795-B840-046F-42EB6AE8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CEAA2-42A6-4707-7EBD-1A270567E23C}"/>
              </a:ext>
            </a:extLst>
          </p:cNvPr>
          <p:cNvSpPr txBox="1">
            <a:spLocks/>
          </p:cNvSpPr>
          <p:nvPr/>
        </p:nvSpPr>
        <p:spPr>
          <a:xfrm>
            <a:off x="542307" y="191436"/>
            <a:ext cx="5921951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Volumen/Población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slide2" descr="P3a (2)">
            <a:extLst>
              <a:ext uri="{FF2B5EF4-FFF2-40B4-BE49-F238E27FC236}">
                <a16:creationId xmlns:a16="http://schemas.microsoft.com/office/drawing/2014/main" id="{ABF9468A-9044-425C-8032-F36F830A2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35" b="8607"/>
          <a:stretch>
            <a:fillRect/>
          </a:stretch>
        </p:blipFill>
        <p:spPr>
          <a:xfrm>
            <a:off x="422909" y="1025556"/>
            <a:ext cx="5141857" cy="5603629"/>
          </a:xfrm>
          <a:prstGeom prst="rect">
            <a:avLst/>
          </a:prstGeom>
        </p:spPr>
      </p:pic>
      <p:pic>
        <p:nvPicPr>
          <p:cNvPr id="10" name="slide2" descr="P3d">
            <a:extLst>
              <a:ext uri="{FF2B5EF4-FFF2-40B4-BE49-F238E27FC236}">
                <a16:creationId xmlns:a16="http://schemas.microsoft.com/office/drawing/2014/main" id="{E593C2B4-3A2E-40F0-B2BE-29676D4AE3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" t="13614" r="15892" b="18300"/>
          <a:stretch>
            <a:fillRect/>
          </a:stretch>
        </p:blipFill>
        <p:spPr>
          <a:xfrm>
            <a:off x="5895585" y="1669310"/>
            <a:ext cx="6201307" cy="4013031"/>
          </a:xfrm>
          <a:prstGeom prst="rect">
            <a:avLst/>
          </a:prstGeom>
        </p:spPr>
      </p:pic>
      <p:pic>
        <p:nvPicPr>
          <p:cNvPr id="12" name="slide2" descr="P3a (2)">
            <a:extLst>
              <a:ext uri="{FF2B5EF4-FFF2-40B4-BE49-F238E27FC236}">
                <a16:creationId xmlns:a16="http://schemas.microsoft.com/office/drawing/2014/main" id="{0AFDF508-FDDA-B0AA-9A2E-3C8D541C25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53" r="16635" b="108"/>
          <a:stretch>
            <a:fillRect/>
          </a:stretch>
        </p:blipFill>
        <p:spPr>
          <a:xfrm>
            <a:off x="5642513" y="6380928"/>
            <a:ext cx="3230899" cy="340547"/>
          </a:xfrm>
          <a:prstGeom prst="rect">
            <a:avLst/>
          </a:prstGeom>
        </p:spPr>
      </p:pic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6F7BDF9B-96C9-4BC2-27F9-A3811FB8356B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12</a:t>
            </a:fld>
            <a:endParaRPr lang="en-US" sz="36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DA275D-7311-68D7-5E65-8621AF43FC63}"/>
              </a:ext>
            </a:extLst>
          </p:cNvPr>
          <p:cNvSpPr/>
          <p:nvPr/>
        </p:nvSpPr>
        <p:spPr>
          <a:xfrm>
            <a:off x="5232368" y="243162"/>
            <a:ext cx="6201307" cy="9048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distribución per cápita de medicamentos en 2026 muestra una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fuerte concentración territorial en la Ciudad de México.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D87E61-7AAD-8136-1CEF-91134A5DBCAD}"/>
              </a:ext>
            </a:extLst>
          </p:cNvPr>
          <p:cNvSpPr/>
          <p:nvPr/>
        </p:nvSpPr>
        <p:spPr>
          <a:xfrm>
            <a:off x="5642513" y="4488873"/>
            <a:ext cx="2856707" cy="171988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 métrica </a:t>
            </a:r>
            <a:r>
              <a:rPr lang="es-E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refleja </a:t>
            </a:r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necesariamente </a:t>
            </a:r>
            <a:r>
              <a:rPr lang="es-E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consumo</a:t>
            </a:r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sino puede estar atribuida a la centralización territorial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B22FF2-6321-2F14-A161-AFC16E1054E8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4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D071B8-AF19-0049-B0F0-5BFE97E757C2}"/>
              </a:ext>
            </a:extLst>
          </p:cNvPr>
          <p:cNvGrpSpPr/>
          <p:nvPr/>
        </p:nvGrpSpPr>
        <p:grpSpPr>
          <a:xfrm>
            <a:off x="542307" y="202705"/>
            <a:ext cx="4163043" cy="704850"/>
            <a:chOff x="8208778" y="316310"/>
            <a:chExt cx="3831970" cy="70485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AB8DD4-27B1-106E-92AB-4E8B1DAA1374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6BAA61-4DF1-C989-223E-8C2519E43961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446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5964-99A4-E92A-5E53-0C953C55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155606-C3CA-3352-F786-93A42072764B}"/>
              </a:ext>
            </a:extLst>
          </p:cNvPr>
          <p:cNvSpPr txBox="1">
            <a:spLocks/>
          </p:cNvSpPr>
          <p:nvPr/>
        </p:nvSpPr>
        <p:spPr>
          <a:xfrm>
            <a:off x="542159" y="202705"/>
            <a:ext cx="5921952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Distribución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8A971A-19C0-D4A6-D8A0-E6AB8F48B5FF}"/>
              </a:ext>
            </a:extLst>
          </p:cNvPr>
          <p:cNvSpPr/>
          <p:nvPr/>
        </p:nvSpPr>
        <p:spPr>
          <a:xfrm>
            <a:off x="3047999" y="343932"/>
            <a:ext cx="4140777" cy="4548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Almacenes y Unidades Médicas</a:t>
            </a:r>
          </a:p>
          <a:p>
            <a:r>
              <a:rPr lang="es-MX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2026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slide2" descr="P3c">
            <a:extLst>
              <a:ext uri="{FF2B5EF4-FFF2-40B4-BE49-F238E27FC236}">
                <a16:creationId xmlns:a16="http://schemas.microsoft.com/office/drawing/2014/main" id="{FA92664C-4AB8-483E-8340-BE47AB294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15"/>
          <a:stretch>
            <a:fillRect/>
          </a:stretch>
        </p:blipFill>
        <p:spPr>
          <a:xfrm>
            <a:off x="6721956" y="1258724"/>
            <a:ext cx="3714740" cy="5617071"/>
          </a:xfrm>
          <a:prstGeom prst="rect">
            <a:avLst/>
          </a:prstGeom>
        </p:spPr>
      </p:pic>
      <p:pic>
        <p:nvPicPr>
          <p:cNvPr id="11" name="slide2" descr="P3c">
            <a:extLst>
              <a:ext uri="{FF2B5EF4-FFF2-40B4-BE49-F238E27FC236}">
                <a16:creationId xmlns:a16="http://schemas.microsoft.com/office/drawing/2014/main" id="{B93BAB59-F8AB-B385-BAA3-B80409B589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69" r="31145" b="-1907"/>
          <a:stretch>
            <a:fillRect/>
          </a:stretch>
        </p:blipFill>
        <p:spPr>
          <a:xfrm>
            <a:off x="9411312" y="3278788"/>
            <a:ext cx="1820894" cy="643448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33CF0183-8AB6-46A2-2B47-6EF3C0F95982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13</a:t>
            </a:fld>
            <a:endParaRPr lang="en-US" sz="36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EF4B0B9-207A-229D-15BB-E4C2BC7F2C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260704"/>
              </p:ext>
            </p:extLst>
          </p:nvPr>
        </p:nvGraphicFramePr>
        <p:xfrm>
          <a:off x="959794" y="2536813"/>
          <a:ext cx="4737893" cy="4018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B8B081-B6F1-261B-2138-C1975ACEDFF9}"/>
              </a:ext>
            </a:extLst>
          </p:cNvPr>
          <p:cNvSpPr/>
          <p:nvPr/>
        </p:nvSpPr>
        <p:spPr>
          <a:xfrm>
            <a:off x="3880875" y="5509587"/>
            <a:ext cx="1306930" cy="595937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s-MX" sz="12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331,185,308</a:t>
            </a:r>
            <a:endParaRPr lang="en-US" sz="16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FB5636-EDEE-B8CE-8831-7626803CC3DA}"/>
              </a:ext>
            </a:extLst>
          </p:cNvPr>
          <p:cNvSpPr/>
          <p:nvPr/>
        </p:nvSpPr>
        <p:spPr>
          <a:xfrm>
            <a:off x="724600" y="3056115"/>
            <a:ext cx="1306930" cy="595937"/>
          </a:xfrm>
          <a:prstGeom prst="round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s-MX" sz="1200" dirty="0">
                <a:ln w="0"/>
                <a:solidFill>
                  <a:srgbClr val="4D4D4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99,194,306</a:t>
            </a:r>
            <a:endParaRPr lang="en-US" sz="1600" dirty="0">
              <a:ln w="0"/>
              <a:solidFill>
                <a:srgbClr val="4D4D4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681C18-B704-370A-5055-860B8A846881}"/>
              </a:ext>
            </a:extLst>
          </p:cNvPr>
          <p:cNvSpPr/>
          <p:nvPr/>
        </p:nvSpPr>
        <p:spPr>
          <a:xfrm>
            <a:off x="262804" y="1190018"/>
            <a:ext cx="6201307" cy="9048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mayor volumen 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concentra en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almacenes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lo que refleja un modelo de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distribución centralizado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06075E-3AED-176A-42E2-FFD1499AA17B}"/>
              </a:ext>
            </a:extLst>
          </p:cNvPr>
          <p:cNvSpPr/>
          <p:nvPr/>
        </p:nvSpPr>
        <p:spPr>
          <a:xfrm>
            <a:off x="7374728" y="231386"/>
            <a:ext cx="4417100" cy="9048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IMSS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domina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la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entrega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medicamentos tanto en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almacenes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como en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unidades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E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médicas</a:t>
            </a:r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A3D900-63F9-20E4-4145-CB43EB26A1BF}"/>
              </a:ext>
            </a:extLst>
          </p:cNvPr>
          <p:cNvSpPr/>
          <p:nvPr/>
        </p:nvSpPr>
        <p:spPr>
          <a:xfrm>
            <a:off x="-9953" y="-27455"/>
            <a:ext cx="485764" cy="691993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0" dirty="0"/>
              <a:t>4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DB2877-F9C7-15D6-293F-9134ED58D069}"/>
              </a:ext>
            </a:extLst>
          </p:cNvPr>
          <p:cNvGrpSpPr/>
          <p:nvPr/>
        </p:nvGrpSpPr>
        <p:grpSpPr>
          <a:xfrm>
            <a:off x="542307" y="202705"/>
            <a:ext cx="6315693" cy="704850"/>
            <a:chOff x="8208778" y="316310"/>
            <a:chExt cx="3831970" cy="70485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F2AE85D-FB0E-BCED-0CAD-2B0FCEAABD0B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AA6F7F-C132-4AB6-C3F2-366A22815CAB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E76F51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935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6729-9F10-F726-0ABD-26E6E1C0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modelo consolidado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domina el suministro, gestionando poco más de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mil millones de piezas entregadas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el periodo May25-Feb26 (91% del volumen) en comparación al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modelo no consolidado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(9% del volumen).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distribución de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piezas solicitadas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presenta irregularidad. El sistema enfrenta un riesgo logístico por picos de demanda, especialmente, en la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primera semana de enero 2026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(~110M de piezas). La entrega es inmediata y puntual, pero es retraída.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Utilizando el margen de sobreprecio, se identifican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oportunidades críticas de ahorro.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9% de las adjudicaciones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 periodo (May25-Feb26) presentan sobreprecio, donde el Estado pagó montos significativamente superiores al mínimo del mercado,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91 casos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los cuales presentaron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80-100% de margen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el periodo 01Ene-24Abr de 2026 se identifica una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centralización territorial en la entrega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medicamentos. Ciudad de México lidera en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volumen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(117M de piezas) y en diversidad de claves únicas de medicamentos (1,394). Las piezas entregadas se destinan principalmente a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almacenes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(77%) que a </a:t>
            </a:r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unidades médicas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(23%).</a:t>
            </a:r>
          </a:p>
          <a:p>
            <a:pPr marL="457200" indent="-457200">
              <a:buFont typeface="+mj-lt"/>
              <a:buAutoNum type="arabicPeriod"/>
            </a:pPr>
            <a:endParaRPr lang="es-MX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s-MX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B2AF46-43C7-7C47-8BBF-B1F4E57A6011}"/>
              </a:ext>
            </a:extLst>
          </p:cNvPr>
          <p:cNvSpPr txBox="1">
            <a:spLocks/>
          </p:cNvSpPr>
          <p:nvPr/>
        </p:nvSpPr>
        <p:spPr>
          <a:xfrm>
            <a:off x="333375" y="190607"/>
            <a:ext cx="4563623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Conclusiones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E68695-4B56-1C07-698E-82562A5FC7BF}"/>
              </a:ext>
            </a:extLst>
          </p:cNvPr>
          <p:cNvGrpSpPr/>
          <p:nvPr/>
        </p:nvGrpSpPr>
        <p:grpSpPr>
          <a:xfrm>
            <a:off x="333375" y="228814"/>
            <a:ext cx="2773507" cy="704850"/>
            <a:chOff x="8208778" y="316310"/>
            <a:chExt cx="3831970" cy="7048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29DD04B-D0A3-CA49-A82F-FB2595E73101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EC88D30-1584-A493-8A5B-4D80045F63DC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416C610-1ECA-581B-AB5D-0E18617886A9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14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5340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CABF-952A-0739-FACD-A3C9846A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E4FB5-6B6B-4ECE-653D-8BA69856C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>
            <a:normAutofit/>
          </a:bodyPr>
          <a:lstStyle/>
          <a:p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Descentralización de claves: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Revisar la estrategia para aumentar la diversidad de claves únicas en estados de baja cobertura (Tlaxcala y Durango), reduciendo la necesidad de traslados de pacientes a la zona centro. </a:t>
            </a:r>
          </a:p>
          <a:p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Índice de equidad terapéutica: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todos las claves de medicamentos son de alta especialidad. Se propone entonces desarrollar un indicador que compare la disponibilidad de claves de alta especialidad entre estados. </a:t>
            </a:r>
            <a:endParaRPr lang="es-MX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Alerta temprana de sobreprecio: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Revisar los casos de sobreprecios e inspeccionar la capacidad y cumplimientos de los proveedores para poder determinar cambios logísticos </a:t>
            </a:r>
          </a:p>
          <a:p>
            <a:r>
              <a:rPr lang="es-MX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Solicitudes y entregas de diciembre: </a:t>
            </a:r>
            <a:r>
              <a:rPr lang="es-MX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Ampliar el rango temporal para revisar si la falta de solicitudes y entregas en diciembre sucede también en años pasados. Si es así, revisar la estrategia de solicitudes y entregas en las instituciones de salud en el mes de Diciembre y si esto repercute en la incidencia de enfermedades.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B9151D-5316-4868-430D-43D43DC6C23F}"/>
              </a:ext>
            </a:extLst>
          </p:cNvPr>
          <p:cNvSpPr txBox="1">
            <a:spLocks/>
          </p:cNvSpPr>
          <p:nvPr/>
        </p:nvSpPr>
        <p:spPr>
          <a:xfrm>
            <a:off x="333375" y="190607"/>
            <a:ext cx="4563623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Recomendaciones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9C90AB-6E5B-1921-C620-88B5546FCC15}"/>
              </a:ext>
            </a:extLst>
          </p:cNvPr>
          <p:cNvGrpSpPr/>
          <p:nvPr/>
        </p:nvGrpSpPr>
        <p:grpSpPr>
          <a:xfrm>
            <a:off x="333375" y="228814"/>
            <a:ext cx="3981450" cy="704850"/>
            <a:chOff x="8208778" y="316310"/>
            <a:chExt cx="3831970" cy="7048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5AEE5D2-0ED9-28FB-3F1D-0EFC5CB6D535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7E7C9A9-9D6D-200B-CCC0-9564B70426A7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CC19DDC-7644-3263-2874-9C48B588369E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15</a:t>
            </a:fld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25055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A51D-A484-E8A1-E0C8-FAACED2B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1626D5-266E-C8F6-CF6F-1F8194C83D2E}"/>
              </a:ext>
            </a:extLst>
          </p:cNvPr>
          <p:cNvSpPr txBox="1">
            <a:spLocks/>
          </p:cNvSpPr>
          <p:nvPr/>
        </p:nvSpPr>
        <p:spPr>
          <a:xfrm>
            <a:off x="333375" y="190607"/>
            <a:ext cx="4563623" cy="651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Fuentes</a:t>
            </a:r>
            <a:endParaRPr lang="en-US" sz="32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A32C9C-EDA9-1123-67A4-BE646F7227CE}"/>
              </a:ext>
            </a:extLst>
          </p:cNvPr>
          <p:cNvGrpSpPr/>
          <p:nvPr/>
        </p:nvGrpSpPr>
        <p:grpSpPr>
          <a:xfrm>
            <a:off x="333375" y="228814"/>
            <a:ext cx="1732931" cy="704850"/>
            <a:chOff x="8208778" y="316310"/>
            <a:chExt cx="3831970" cy="70485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986F538-23DF-B8D3-7DC9-CC20B97B910D}"/>
                </a:ext>
              </a:extLst>
            </p:cNvPr>
            <p:cNvCxnSpPr>
              <a:cxnSpLocks/>
            </p:cNvCxnSpPr>
            <p:nvPr/>
          </p:nvCxnSpPr>
          <p:spPr>
            <a:xfrm>
              <a:off x="8211857" y="1021160"/>
              <a:ext cx="3828891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8B16E5-5338-D994-200A-034539FD7F45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78" y="316310"/>
              <a:ext cx="3822445" cy="0"/>
            </a:xfrm>
            <a:prstGeom prst="line">
              <a:avLst/>
            </a:prstGeom>
            <a:ln w="28575">
              <a:solidFill>
                <a:srgbClr val="57000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75F48A4D-112D-8874-208C-87BA33957363}"/>
              </a:ext>
            </a:extLst>
          </p:cNvPr>
          <p:cNvSpPr txBox="1">
            <a:spLocks/>
          </p:cNvSpPr>
          <p:nvPr/>
        </p:nvSpPr>
        <p:spPr>
          <a:xfrm>
            <a:off x="10894424" y="6105524"/>
            <a:ext cx="1078502" cy="615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E45082-A74D-4587-9352-3B7E331F15E5}" type="slidenum">
              <a:rPr lang="en-US" sz="3600" smtClean="0"/>
              <a:pPr/>
              <a:t>16</a:t>
            </a:fld>
            <a:endParaRPr lang="en-US" sz="360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0966C65-018A-CE03-7036-BD98EA20F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964353"/>
            <a:ext cx="11851574" cy="4893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685800" lvl="1" indent="-228600">
              <a:buChar char="•"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[1]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Secretaría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Salud. (2026). Entrega de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medicamentos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insumos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Gobierno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México.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Recuperado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el 2 de mayo de 2026, de </a:t>
            </a:r>
            <a:r>
              <a:rPr lang="en-US" altLang="en-US" sz="18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Entrega de </a:t>
            </a:r>
            <a:r>
              <a:rPr lang="en-US" altLang="en-US" sz="1800" dirty="0" err="1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medicamentos</a:t>
            </a:r>
            <a:r>
              <a:rPr lang="en-US" altLang="en-US" sz="18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insumos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685800" lvl="1" indent="-228600">
              <a:buChar char="•"/>
            </a:pPr>
            <a:endParaRPr lang="en-US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85800" lvl="1" indent="-228600">
              <a:buChar char="•"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[2]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Secretaría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Salud. (2026).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Monitoreo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compras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Gobierno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México.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Recuperado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el 2 de mayo de 2026, de </a:t>
            </a:r>
            <a:r>
              <a:rPr lang="en-US" altLang="en-US" sz="1800" dirty="0" err="1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Monitoreo</a:t>
            </a:r>
            <a:r>
              <a:rPr lang="en-US" altLang="en-US" sz="18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compras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685800" lvl="1" indent="-228600">
              <a:buChar char="•"/>
            </a:pPr>
            <a:endParaRPr lang="en-US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85800" lvl="1" indent="-228600">
              <a:buChar char="•"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[3] Instituto Nacional de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Estadística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y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Geografía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(INEGI). (2020). Censo de Población y Vivienda 2020: Datos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abiertos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Recuperado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el 2 de mayo de 2026, de 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INEGI CCPV 2020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685800" lvl="1" indent="-228600">
              <a:buChar char="•"/>
            </a:pPr>
            <a:endParaRPr lang="en-US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85800" lvl="1" indent="-228600">
              <a:buChar char="•"/>
            </a:pP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[4]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Mecalux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(2026).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Consolidación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carga: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qué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consiste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Mecalux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México. </a:t>
            </a:r>
            <a:r>
              <a:rPr lang="en-US" alt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Recuperado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el 4 de mayo de 2026, de </a:t>
            </a:r>
            <a:r>
              <a:rPr lang="en-US" altLang="en-US" sz="1800" dirty="0" err="1">
                <a:solidFill>
                  <a:srgbClr val="46788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Mecalux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México</a:t>
            </a:r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8289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B10F2E"/>
      </a:accent1>
      <a:accent2>
        <a:srgbClr val="264653"/>
      </a:accent2>
      <a:accent3>
        <a:srgbClr val="2A9D8F"/>
      </a:accent3>
      <a:accent4>
        <a:srgbClr val="E9C46A"/>
      </a:accent4>
      <a:accent5>
        <a:srgbClr val="F4A261"/>
      </a:accent5>
      <a:accent6>
        <a:srgbClr val="E76F51"/>
      </a:accent6>
      <a:hlink>
        <a:srgbClr val="467886"/>
      </a:hlink>
      <a:folHlink>
        <a:srgbClr val="96607D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529</TotalTime>
  <Words>1089</Words>
  <Application>Microsoft Office PowerPoint</Application>
  <PresentationFormat>Widescreen</PresentationFormat>
  <Paragraphs>176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Century Gothic</vt:lpstr>
      <vt:lpstr>Office Theme</vt:lpstr>
      <vt:lpstr>Análisis de solicitudes y entrega de medicamentos en el sector salud</vt:lpstr>
      <vt:lpstr>Objetivos del análisis</vt:lpstr>
      <vt:lpstr>Metodología</vt:lpstr>
      <vt:lpstr>PowerPoint Presentation</vt:lpstr>
      <vt:lpstr>Distribución temporal</vt:lpstr>
      <vt:lpstr>Distribución temporal</vt:lpstr>
      <vt:lpstr>Distribución temporal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MUÑOZ SANCHEZ</dc:creator>
  <cp:lastModifiedBy>EDGAR MUÑOZ SANCHEZ</cp:lastModifiedBy>
  <cp:revision>22</cp:revision>
  <dcterms:created xsi:type="dcterms:W3CDTF">2026-05-12T19:48:40Z</dcterms:created>
  <dcterms:modified xsi:type="dcterms:W3CDTF">2026-05-13T19:11:27Z</dcterms:modified>
</cp:coreProperties>
</file>